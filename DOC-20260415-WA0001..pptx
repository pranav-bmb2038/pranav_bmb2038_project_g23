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2E2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2E2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2E2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2E2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92040"/>
          </a:xfrm>
          <a:custGeom>
            <a:avLst/>
            <a:gdLst/>
            <a:ahLst/>
            <a:cxnLst/>
            <a:rect l="l" t="t" r="r" b="b"/>
            <a:pathLst>
              <a:path w="9144000" h="4892040">
                <a:moveTo>
                  <a:pt x="0" y="4892039"/>
                </a:moveTo>
                <a:lnTo>
                  <a:pt x="9143999" y="4892039"/>
                </a:lnTo>
                <a:lnTo>
                  <a:pt x="9143999" y="0"/>
                </a:lnTo>
                <a:lnTo>
                  <a:pt x="0" y="0"/>
                </a:lnTo>
                <a:lnTo>
                  <a:pt x="0" y="4892039"/>
                </a:lnTo>
                <a:close/>
              </a:path>
            </a:pathLst>
          </a:custGeom>
          <a:solidFill>
            <a:srgbClr val="F1F7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-184606"/>
            <a:ext cx="8255000" cy="1259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2E2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4337" y="1138237"/>
            <a:ext cx="5207000" cy="146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2549897" y="4958207"/>
            <a:ext cx="404114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D9E7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62789" y="3983000"/>
            <a:ext cx="3521075" cy="62103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050">
                <a:latin typeface="Arial MT"/>
                <a:cs typeface="Arial MT"/>
              </a:rPr>
              <a:t>Group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-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 spc="-25">
                <a:latin typeface="Arial MT"/>
                <a:cs typeface="Arial MT"/>
              </a:rPr>
              <a:t>G23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ts val="1030"/>
              </a:lnSpc>
              <a:spcBef>
                <a:spcPts val="795"/>
              </a:spcBef>
            </a:pPr>
            <a:r>
              <a:rPr dirty="0" sz="1050">
                <a:latin typeface="Arial MT"/>
                <a:cs typeface="Arial MT"/>
              </a:rPr>
              <a:t>Kiran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Kumar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(BMB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2025),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Pranav,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D.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Prasad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(BMB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2038), </a:t>
            </a:r>
            <a:r>
              <a:rPr dirty="0" sz="1050">
                <a:latin typeface="Arial MT"/>
                <a:cs typeface="Arial MT"/>
              </a:rPr>
              <a:t>Vivechan,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M.B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(AMB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2302)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732" y="301413"/>
            <a:ext cx="2155507" cy="14597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9869" y="373729"/>
            <a:ext cx="50825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10" b="0">
                <a:solidFill>
                  <a:srgbClr val="1F4E78"/>
                </a:solidFill>
                <a:latin typeface="Times New Roman"/>
                <a:cs typeface="Times New Roman"/>
              </a:rPr>
              <a:t>UNIVERSITY</a:t>
            </a:r>
            <a:r>
              <a:rPr dirty="0" sz="2100" spc="15" b="0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60" b="0">
                <a:solidFill>
                  <a:srgbClr val="1F4E78"/>
                </a:solidFill>
                <a:latin typeface="Times New Roman"/>
                <a:cs typeface="Times New Roman"/>
              </a:rPr>
              <a:t>OF</a:t>
            </a:r>
            <a:r>
              <a:rPr dirty="0" sz="2100" spc="20" b="0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140" b="0">
                <a:solidFill>
                  <a:srgbClr val="1F4E78"/>
                </a:solidFill>
                <a:latin typeface="Times New Roman"/>
                <a:cs typeface="Times New Roman"/>
              </a:rPr>
              <a:t>AGRICULTURAL</a:t>
            </a:r>
            <a:r>
              <a:rPr dirty="0" sz="2100" spc="20" b="0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55" b="0">
                <a:solidFill>
                  <a:srgbClr val="1F4E78"/>
                </a:solidFill>
                <a:latin typeface="Times New Roman"/>
                <a:cs typeface="Times New Roman"/>
              </a:rPr>
              <a:t>SCIENCES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6349" y="566769"/>
            <a:ext cx="6590665" cy="245872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algn="ctr" marR="1035050">
              <a:lnSpc>
                <a:spcPct val="100000"/>
              </a:lnSpc>
              <a:spcBef>
                <a:spcPts val="1100"/>
              </a:spcBef>
            </a:pPr>
            <a:r>
              <a:rPr dirty="0" sz="2100" spc="-50">
                <a:solidFill>
                  <a:srgbClr val="1F4E78"/>
                </a:solidFill>
                <a:latin typeface="Times New Roman"/>
                <a:cs typeface="Times New Roman"/>
              </a:rPr>
              <a:t>,</a:t>
            </a:r>
            <a:endParaRPr sz="2100">
              <a:latin typeface="Times New Roman"/>
              <a:cs typeface="Times New Roman"/>
            </a:endParaRPr>
          </a:p>
          <a:p>
            <a:pPr marL="1654175" marR="2217420" indent="-638175">
              <a:lnSpc>
                <a:spcPct val="139700"/>
              </a:lnSpc>
            </a:pPr>
            <a:r>
              <a:rPr dirty="0" sz="2100" spc="-110">
                <a:solidFill>
                  <a:srgbClr val="1F4E78"/>
                </a:solidFill>
                <a:latin typeface="Times New Roman"/>
                <a:cs typeface="Times New Roman"/>
              </a:rPr>
              <a:t>COLLEGE</a:t>
            </a:r>
            <a:r>
              <a:rPr dirty="0" sz="2100" spc="-25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60">
                <a:solidFill>
                  <a:srgbClr val="1F4E78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120">
                <a:solidFill>
                  <a:srgbClr val="1F4E78"/>
                </a:solidFill>
                <a:latin typeface="Times New Roman"/>
                <a:cs typeface="Times New Roman"/>
              </a:rPr>
              <a:t>AGRICULTURE, </a:t>
            </a:r>
            <a:r>
              <a:rPr dirty="0" sz="2100" spc="-150">
                <a:solidFill>
                  <a:srgbClr val="1F4E78"/>
                </a:solidFill>
                <a:latin typeface="Times New Roman"/>
                <a:cs typeface="Times New Roman"/>
              </a:rPr>
              <a:t>GKVK,</a:t>
            </a:r>
            <a:r>
              <a:rPr dirty="0" sz="2100" spc="25">
                <a:solidFill>
                  <a:srgbClr val="1F4E78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1F4E78"/>
                </a:solidFill>
                <a:latin typeface="Times New Roman"/>
                <a:cs typeface="Times New Roman"/>
              </a:rPr>
              <a:t>BANGLORE</a:t>
            </a:r>
            <a:endParaRPr sz="2100">
              <a:latin typeface="Times New Roman"/>
              <a:cs typeface="Times New Roman"/>
            </a:endParaRPr>
          </a:p>
          <a:p>
            <a:pPr marL="12700" marR="5080">
              <a:lnSpc>
                <a:spcPts val="2740"/>
              </a:lnSpc>
              <a:spcBef>
                <a:spcPts val="409"/>
              </a:spcBef>
            </a:pPr>
            <a:r>
              <a:rPr dirty="0" sz="2500">
                <a:latin typeface="Times New Roman"/>
                <a:cs typeface="Times New Roman"/>
              </a:rPr>
              <a:t>Title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project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-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“ML</a:t>
            </a:r>
            <a:r>
              <a:rPr dirty="0" sz="2500" spc="-7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Detection</a:t>
            </a:r>
            <a:r>
              <a:rPr dirty="0" sz="2500" spc="3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of</a:t>
            </a:r>
            <a:r>
              <a:rPr dirty="0" sz="2500" spc="35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Seed-</a:t>
            </a:r>
            <a:r>
              <a:rPr dirty="0" sz="2500" spc="-10">
                <a:solidFill>
                  <a:srgbClr val="C8A951"/>
                </a:solidFill>
                <a:latin typeface="Times New Roman"/>
                <a:cs typeface="Times New Roman"/>
              </a:rPr>
              <a:t>Borne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Pathogen</a:t>
            </a:r>
            <a:r>
              <a:rPr dirty="0" sz="2500" spc="7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Signatures</a:t>
            </a:r>
            <a:r>
              <a:rPr dirty="0" sz="2500" spc="65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in</a:t>
            </a:r>
            <a:r>
              <a:rPr dirty="0" sz="2500" spc="75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Storage</a:t>
            </a:r>
            <a:r>
              <a:rPr dirty="0" sz="2500" spc="65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Metagenomes</a:t>
            </a:r>
            <a:r>
              <a:rPr dirty="0" sz="2500" spc="7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 spc="-25">
                <a:solidFill>
                  <a:srgbClr val="C8A951"/>
                </a:solidFill>
                <a:latin typeface="Times New Roman"/>
                <a:cs typeface="Times New Roman"/>
              </a:rPr>
              <a:t>for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Predicting</a:t>
            </a:r>
            <a:r>
              <a:rPr dirty="0" sz="2500" spc="8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Seedlot</a:t>
            </a:r>
            <a:r>
              <a:rPr dirty="0" sz="2500" spc="75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C8A951"/>
                </a:solidFill>
                <a:latin typeface="Times New Roman"/>
                <a:cs typeface="Times New Roman"/>
              </a:rPr>
              <a:t>Health</a:t>
            </a:r>
            <a:r>
              <a:rPr dirty="0" sz="2500" spc="80">
                <a:solidFill>
                  <a:srgbClr val="C8A951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C8A951"/>
                </a:solidFill>
                <a:latin typeface="Times New Roman"/>
                <a:cs typeface="Times New Roman"/>
              </a:rPr>
              <a:t>Deterioration”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/>
              <a:t>Background</a:t>
            </a:r>
            <a:r>
              <a:rPr dirty="0" spc="-110"/>
              <a:t> </a:t>
            </a:r>
            <a:r>
              <a:rPr dirty="0"/>
              <a:t>&amp;</a:t>
            </a:r>
            <a:r>
              <a:rPr dirty="0" spc="-105"/>
              <a:t> </a:t>
            </a:r>
            <a:r>
              <a:rPr dirty="0" spc="-10"/>
              <a:t>Motivation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Why</a:t>
            </a:r>
            <a:r>
              <a:rPr dirty="0" sz="1300" spc="-4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does</a:t>
            </a:r>
            <a:r>
              <a:rPr dirty="0" sz="1300" spc="-3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seedlot</a:t>
            </a:r>
            <a:r>
              <a:rPr dirty="0" sz="1300" spc="-3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health</a:t>
            </a:r>
            <a:r>
              <a:rPr dirty="0" sz="1300" spc="-4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prediction</a:t>
            </a:r>
            <a:r>
              <a:rPr dirty="0" sz="1300" spc="-3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matter?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659" y="1223788"/>
              <a:ext cx="2763520" cy="11633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57200" y="1298447"/>
            <a:ext cx="2560320" cy="960119"/>
          </a:xfrm>
          <a:prstGeom prst="rect">
            <a:avLst/>
          </a:prstGeom>
          <a:solidFill>
            <a:srgbClr val="0D2E2E"/>
          </a:solidFill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2200" spc="-10" b="1">
                <a:solidFill>
                  <a:srgbClr val="C8A951"/>
                </a:solidFill>
                <a:latin typeface="Calibri"/>
                <a:cs typeface="Calibri"/>
              </a:rPr>
              <a:t>20–30%</a:t>
            </a:r>
            <a:endParaRPr sz="2200">
              <a:latin typeface="Calibri"/>
              <a:cs typeface="Calibri"/>
            </a:endParaRPr>
          </a:p>
          <a:p>
            <a:pPr algn="ctr" marL="610870" marR="603250">
              <a:lnSpc>
                <a:spcPct val="100000"/>
              </a:lnSpc>
              <a:spcBef>
                <a:spcPts val="68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seeds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lost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annually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pathogens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59" y="2339357"/>
            <a:ext cx="2763520" cy="116332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7200" y="2414016"/>
            <a:ext cx="2560320" cy="960119"/>
          </a:xfrm>
          <a:prstGeom prst="rect">
            <a:avLst/>
          </a:prstGeom>
          <a:solidFill>
            <a:srgbClr val="1A796E"/>
          </a:solidFill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2200" spc="-30" b="1">
                <a:solidFill>
                  <a:srgbClr val="C8A951"/>
                </a:solidFill>
                <a:latin typeface="Calibri"/>
                <a:cs typeface="Calibri"/>
              </a:rPr>
              <a:t>Pre-</a:t>
            </a:r>
            <a:r>
              <a:rPr dirty="0" sz="2200" spc="-25" b="1">
                <a:solidFill>
                  <a:srgbClr val="C8A951"/>
                </a:solidFill>
                <a:latin typeface="Calibri"/>
                <a:cs typeface="Calibri"/>
              </a:rPr>
              <a:t>Sym</a:t>
            </a:r>
            <a:endParaRPr sz="2200">
              <a:latin typeface="Calibri"/>
              <a:cs typeface="Calibri"/>
            </a:endParaRPr>
          </a:p>
          <a:p>
            <a:pPr algn="ctr" marL="591820" marR="584200">
              <a:lnSpc>
                <a:spcPct val="100000"/>
              </a:lnSpc>
              <a:spcBef>
                <a:spcPts val="68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Fungi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colonize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seeds before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visible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symptoms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59" y="3454925"/>
            <a:ext cx="2763520" cy="116332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57200" y="3529584"/>
            <a:ext cx="2560320" cy="960119"/>
          </a:xfrm>
          <a:prstGeom prst="rect">
            <a:avLst/>
          </a:prstGeom>
          <a:solidFill>
            <a:srgbClr val="145757"/>
          </a:solidFill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2200" spc="-10" b="1">
                <a:solidFill>
                  <a:srgbClr val="C8A951"/>
                </a:solidFill>
                <a:latin typeface="Calibri"/>
                <a:cs typeface="Calibri"/>
              </a:rPr>
              <a:t>Reactive</a:t>
            </a:r>
            <a:endParaRPr sz="2200">
              <a:latin typeface="Calibri"/>
              <a:cs typeface="Calibri"/>
            </a:endParaRPr>
          </a:p>
          <a:p>
            <a:pPr algn="ctr" marL="693420" marR="686435">
              <a:lnSpc>
                <a:spcPct val="100000"/>
              </a:lnSpc>
              <a:spcBef>
                <a:spcPts val="68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methods: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slow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destructive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111229" y="1180862"/>
            <a:ext cx="5656580" cy="3599179"/>
            <a:chOff x="3111229" y="1180862"/>
            <a:chExt cx="5656580" cy="3599179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1229" y="1180862"/>
              <a:ext cx="5656580" cy="359918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246119" y="1591055"/>
              <a:ext cx="5440680" cy="3054350"/>
            </a:xfrm>
            <a:custGeom>
              <a:avLst/>
              <a:gdLst/>
              <a:ahLst/>
              <a:cxnLst/>
              <a:rect l="l" t="t" r="r" b="b"/>
              <a:pathLst>
                <a:path w="5440680" h="3054350">
                  <a:moveTo>
                    <a:pt x="0" y="3054095"/>
                  </a:moveTo>
                  <a:lnTo>
                    <a:pt x="5440679" y="3054095"/>
                  </a:lnTo>
                  <a:lnTo>
                    <a:pt x="5440679" y="0"/>
                  </a:lnTo>
                  <a:lnTo>
                    <a:pt x="0" y="0"/>
                  </a:lnTo>
                  <a:lnTo>
                    <a:pt x="0" y="305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46119" y="1261871"/>
              <a:ext cx="5440680" cy="3383279"/>
            </a:xfrm>
            <a:custGeom>
              <a:avLst/>
              <a:gdLst/>
              <a:ahLst/>
              <a:cxnLst/>
              <a:rect l="l" t="t" r="r" b="b"/>
              <a:pathLst>
                <a:path w="5440680" h="3383279">
                  <a:moveTo>
                    <a:pt x="0" y="0"/>
                  </a:moveTo>
                  <a:lnTo>
                    <a:pt x="5440679" y="0"/>
                  </a:lnTo>
                  <a:lnTo>
                    <a:pt x="5440679" y="3383279"/>
                  </a:lnTo>
                  <a:lnTo>
                    <a:pt x="0" y="33832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46119" y="1261871"/>
              <a:ext cx="5440680" cy="329565"/>
            </a:xfrm>
            <a:custGeom>
              <a:avLst/>
              <a:gdLst/>
              <a:ahLst/>
              <a:cxnLst/>
              <a:rect l="l" t="t" r="r" b="b"/>
              <a:pathLst>
                <a:path w="5440680" h="329565">
                  <a:moveTo>
                    <a:pt x="5440679" y="329183"/>
                  </a:moveTo>
                  <a:lnTo>
                    <a:pt x="0" y="329183"/>
                  </a:lnTo>
                  <a:lnTo>
                    <a:pt x="0" y="0"/>
                  </a:lnTo>
                  <a:lnTo>
                    <a:pt x="5440679" y="0"/>
                  </a:lnTo>
                  <a:lnTo>
                    <a:pt x="5440679" y="329183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372485" y="1308100"/>
            <a:ext cx="9861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The</a:t>
            </a:r>
            <a:r>
              <a:rPr dirty="0" sz="13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Challenge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3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3401060" y="1720595"/>
            <a:ext cx="4908550" cy="241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1605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Fusarium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spp.,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Botrytis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cinerea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&amp;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Aspergillus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flavus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cause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invisible </a:t>
            </a:r>
            <a:r>
              <a:rPr dirty="0" sz="1400" spc="-20">
                <a:solidFill>
                  <a:srgbClr val="111111"/>
                </a:solidFill>
                <a:latin typeface="Calibri"/>
                <a:cs typeface="Calibri"/>
              </a:rPr>
              <a:t>early-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stage</a:t>
            </a:r>
            <a:r>
              <a:rPr dirty="0" sz="1400" spc="-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damage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ROS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bursts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&amp;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DNA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strand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breaks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destroy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vigor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before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any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visual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Calibri"/>
                <a:cs typeface="Calibri"/>
              </a:rPr>
              <a:t>sign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appears</a:t>
            </a:r>
            <a:endParaRPr sz="1400">
              <a:latin typeface="Calibri"/>
              <a:cs typeface="Calibri"/>
            </a:endParaRPr>
          </a:p>
          <a:p>
            <a:pPr marL="12700" marR="339725">
              <a:lnSpc>
                <a:spcPct val="100000"/>
              </a:lnSpc>
              <a:spcBef>
                <a:spcPts val="500"/>
              </a:spcBef>
            </a:pP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Agar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plating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/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ELISA: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Calibri"/>
                <a:cs typeface="Calibri"/>
              </a:rPr>
              <a:t>takes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days,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destroys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sample,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only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finds problems</a:t>
            </a:r>
            <a:r>
              <a:rPr dirty="0" sz="14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after</a:t>
            </a:r>
            <a:r>
              <a:rPr dirty="0" sz="14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they're</a:t>
            </a:r>
            <a:r>
              <a:rPr dirty="0" sz="14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severe</a:t>
            </a:r>
            <a:endParaRPr sz="1400">
              <a:latin typeface="Calibri"/>
              <a:cs typeface="Calibri"/>
            </a:endParaRPr>
          </a:p>
          <a:p>
            <a:pPr marL="12700" marR="291465">
              <a:lnSpc>
                <a:spcPct val="100000"/>
              </a:lnSpc>
              <a:spcBef>
                <a:spcPts val="500"/>
              </a:spcBef>
            </a:pP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Metagenomics</a:t>
            </a: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captures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whole-community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shifts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—</a:t>
            </a:r>
            <a:r>
              <a:rPr dirty="0" sz="14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giving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us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11111"/>
                </a:solidFill>
                <a:latin typeface="Calibri"/>
                <a:cs typeface="Calibri"/>
              </a:rPr>
              <a:t>an </a:t>
            </a:r>
            <a:r>
              <a:rPr dirty="0" sz="1400" spc="-20">
                <a:solidFill>
                  <a:srgbClr val="111111"/>
                </a:solidFill>
                <a:latin typeface="Calibri"/>
                <a:cs typeface="Calibri"/>
              </a:rPr>
              <a:t>early-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warning</a:t>
            </a:r>
            <a:r>
              <a:rPr dirty="0" sz="1400" spc="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signal</a:t>
            </a:r>
            <a:endParaRPr sz="1400">
              <a:latin typeface="Calibri"/>
              <a:cs typeface="Calibri"/>
            </a:endParaRPr>
          </a:p>
          <a:p>
            <a:pPr marL="12700" marR="7620">
              <a:lnSpc>
                <a:spcPct val="100000"/>
              </a:lnSpc>
              <a:spcBef>
                <a:spcPts val="500"/>
              </a:spcBef>
            </a:pPr>
            <a:r>
              <a:rPr dirty="0" sz="1400" spc="-40">
                <a:solidFill>
                  <a:srgbClr val="111111"/>
                </a:solidFill>
                <a:latin typeface="Calibri"/>
                <a:cs typeface="Calibri"/>
              </a:rPr>
              <a:t>k-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mer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frequency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profiles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convert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raw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sequence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reads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into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ML-ready numerical</a:t>
            </a:r>
            <a:r>
              <a:rPr dirty="0" sz="14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Calibri"/>
                <a:cs typeface="Calibri"/>
              </a:rPr>
              <a:t>features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1188719"/>
              <a:ext cx="9144000" cy="3954779"/>
            </a:xfrm>
            <a:custGeom>
              <a:avLst/>
              <a:gdLst/>
              <a:ahLst/>
              <a:cxnLst/>
              <a:rect l="l" t="t" r="r" b="b"/>
              <a:pathLst>
                <a:path w="9144000" h="3954779">
                  <a:moveTo>
                    <a:pt x="0" y="3954779"/>
                  </a:moveTo>
                  <a:lnTo>
                    <a:pt x="9143999" y="395477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395477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1188720"/>
            </a:xfrm>
            <a:custGeom>
              <a:avLst/>
              <a:gdLst/>
              <a:ahLst/>
              <a:cxnLst/>
              <a:rect l="l" t="t" r="r" b="b"/>
              <a:pathLst>
                <a:path w="9144000" h="1188720">
                  <a:moveTo>
                    <a:pt x="914399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118871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7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3600">
                <a:solidFill>
                  <a:srgbClr val="FFFFFF"/>
                </a:solidFill>
              </a:rPr>
              <a:t>Problem</a:t>
            </a:r>
            <a:r>
              <a:rPr dirty="0" sz="3600" spc="-170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Statement</a:t>
            </a:r>
            <a:endParaRPr sz="3600"/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Given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raw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spc="-10" b="0" i="1">
                <a:solidFill>
                  <a:srgbClr val="D9E7E6"/>
                </a:solidFill>
                <a:latin typeface="Calibri"/>
                <a:cs typeface="Calibri"/>
              </a:rPr>
              <a:t>metagenomic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reads</a:t>
            </a:r>
            <a:r>
              <a:rPr dirty="0" sz="1500" spc="-35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from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a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spc="-10" b="0" i="1">
                <a:solidFill>
                  <a:srgbClr val="D9E7E6"/>
                </a:solidFill>
                <a:latin typeface="Calibri"/>
                <a:cs typeface="Calibri"/>
              </a:rPr>
              <a:t>stored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seedlot</a:t>
            </a:r>
            <a:r>
              <a:rPr dirty="0" sz="1500" spc="-35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at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time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T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—</a:t>
            </a:r>
            <a:r>
              <a:rPr dirty="0" sz="1500" spc="-35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predict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its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b="0" i="1">
                <a:solidFill>
                  <a:srgbClr val="D9E7E6"/>
                </a:solidFill>
                <a:latin typeface="Calibri"/>
                <a:cs typeface="Calibri"/>
              </a:rPr>
              <a:t>health</a:t>
            </a:r>
            <a:r>
              <a:rPr dirty="0" sz="1500" spc="-40" b="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500" spc="-10" b="0" i="1">
                <a:solidFill>
                  <a:srgbClr val="D9E7E6"/>
                </a:solidFill>
                <a:latin typeface="Calibri"/>
                <a:cs typeface="Calibri"/>
              </a:rPr>
              <a:t>state: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28659" y="1315228"/>
            <a:ext cx="2854960" cy="3449320"/>
            <a:chOff x="328659" y="1315228"/>
            <a:chExt cx="2854960" cy="344932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659" y="1315228"/>
              <a:ext cx="2854960" cy="34493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57199" y="1389888"/>
              <a:ext cx="2651760" cy="3246120"/>
            </a:xfrm>
            <a:custGeom>
              <a:avLst/>
              <a:gdLst/>
              <a:ahLst/>
              <a:cxnLst/>
              <a:rect l="l" t="t" r="r" b="b"/>
              <a:pathLst>
                <a:path w="2651760" h="3246120">
                  <a:moveTo>
                    <a:pt x="2651759" y="3246119"/>
                  </a:moveTo>
                  <a:lnTo>
                    <a:pt x="0" y="3246119"/>
                  </a:lnTo>
                  <a:lnTo>
                    <a:pt x="0" y="0"/>
                  </a:lnTo>
                  <a:lnTo>
                    <a:pt x="2651759" y="0"/>
                  </a:lnTo>
                  <a:lnTo>
                    <a:pt x="2651759" y="3246119"/>
                  </a:lnTo>
                  <a:close/>
                </a:path>
              </a:pathLst>
            </a:custGeom>
            <a:solidFill>
              <a:srgbClr val="1A6B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31520" y="2670060"/>
              <a:ext cx="2103120" cy="978535"/>
            </a:xfrm>
            <a:custGeom>
              <a:avLst/>
              <a:gdLst/>
              <a:ahLst/>
              <a:cxnLst/>
              <a:rect l="l" t="t" r="r" b="b"/>
              <a:pathLst>
                <a:path w="2103120" h="978535">
                  <a:moveTo>
                    <a:pt x="2103120" y="941832"/>
                  </a:moveTo>
                  <a:lnTo>
                    <a:pt x="0" y="941832"/>
                  </a:lnTo>
                  <a:lnTo>
                    <a:pt x="0" y="978395"/>
                  </a:lnTo>
                  <a:lnTo>
                    <a:pt x="2103120" y="978395"/>
                  </a:lnTo>
                  <a:lnTo>
                    <a:pt x="2103120" y="941832"/>
                  </a:lnTo>
                  <a:close/>
                </a:path>
                <a:path w="2103120" h="978535">
                  <a:moveTo>
                    <a:pt x="21031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2103120" y="36576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57200" y="1389888"/>
            <a:ext cx="2651760" cy="324612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65"/>
              </a:spcBef>
            </a:pPr>
            <a:r>
              <a:rPr dirty="0" sz="3600" spc="-5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endParaRPr sz="3600">
              <a:latin typeface="MS PGothic"/>
              <a:cs typeface="MS PGothic"/>
            </a:endParaRPr>
          </a:p>
          <a:p>
            <a:pPr marL="788035">
              <a:lnSpc>
                <a:spcPct val="100000"/>
              </a:lnSpc>
              <a:spcBef>
                <a:spcPts val="190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0: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Healthy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00">
              <a:latin typeface="Calibri"/>
              <a:cs typeface="Calibri"/>
            </a:endParaRPr>
          </a:p>
          <a:p>
            <a:pPr algn="ctr" marL="501650" marR="494665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germination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vigor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microbiome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00" i="1">
                <a:latin typeface="Arial"/>
                <a:cs typeface="Arial"/>
              </a:rPr>
              <a:t>→</a:t>
            </a:r>
            <a:r>
              <a:rPr dirty="0" sz="1300" spc="-90" i="1">
                <a:latin typeface="Arial"/>
                <a:cs typeface="Arial"/>
              </a:rPr>
              <a:t> </a:t>
            </a:r>
            <a:r>
              <a:rPr dirty="0" sz="1300" i="1">
                <a:latin typeface="Calibri"/>
                <a:cs typeface="Calibri"/>
              </a:rPr>
              <a:t>Why</a:t>
            </a:r>
            <a:r>
              <a:rPr dirty="0" sz="1300" spc="-25" i="1">
                <a:latin typeface="Calibri"/>
                <a:cs typeface="Calibri"/>
              </a:rPr>
              <a:t> </a:t>
            </a:r>
            <a:r>
              <a:rPr dirty="0" sz="1300" i="1">
                <a:latin typeface="Calibri"/>
                <a:cs typeface="Calibri"/>
              </a:rPr>
              <a:t>it</a:t>
            </a:r>
            <a:r>
              <a:rPr dirty="0" sz="1300" spc="-20" i="1">
                <a:latin typeface="Calibri"/>
                <a:cs typeface="Calibri"/>
              </a:rPr>
              <a:t> </a:t>
            </a:r>
            <a:r>
              <a:rPr dirty="0" sz="1300" spc="-10" i="1">
                <a:latin typeface="Calibri"/>
                <a:cs typeface="Calibri"/>
              </a:rPr>
              <a:t>matters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Prevented</a:t>
            </a:r>
            <a:r>
              <a:rPr dirty="0" sz="13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crop</a:t>
            </a:r>
            <a:r>
              <a:rPr dirty="0" sz="13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failure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145011" y="1315228"/>
            <a:ext cx="2854960" cy="3449320"/>
            <a:chOff x="3145011" y="1315228"/>
            <a:chExt cx="2854960" cy="344932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5011" y="1315228"/>
              <a:ext cx="2854960" cy="344932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273551" y="1389888"/>
              <a:ext cx="2651760" cy="3246120"/>
            </a:xfrm>
            <a:custGeom>
              <a:avLst/>
              <a:gdLst/>
              <a:ahLst/>
              <a:cxnLst/>
              <a:rect l="l" t="t" r="r" b="b"/>
              <a:pathLst>
                <a:path w="2651760" h="3246120">
                  <a:moveTo>
                    <a:pt x="2651759" y="3246119"/>
                  </a:moveTo>
                  <a:lnTo>
                    <a:pt x="0" y="3246119"/>
                  </a:lnTo>
                  <a:lnTo>
                    <a:pt x="0" y="0"/>
                  </a:lnTo>
                  <a:lnTo>
                    <a:pt x="2651759" y="0"/>
                  </a:lnTo>
                  <a:lnTo>
                    <a:pt x="2651759" y="3246119"/>
                  </a:lnTo>
                  <a:close/>
                </a:path>
              </a:pathLst>
            </a:custGeom>
            <a:solidFill>
              <a:srgbClr val="E794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98" y="1596663"/>
              <a:ext cx="569267" cy="53578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547872" y="2670060"/>
              <a:ext cx="2103120" cy="978535"/>
            </a:xfrm>
            <a:custGeom>
              <a:avLst/>
              <a:gdLst/>
              <a:ahLst/>
              <a:cxnLst/>
              <a:rect l="l" t="t" r="r" b="b"/>
              <a:pathLst>
                <a:path w="2103120" h="978535">
                  <a:moveTo>
                    <a:pt x="2103120" y="941832"/>
                  </a:moveTo>
                  <a:lnTo>
                    <a:pt x="0" y="941832"/>
                  </a:lnTo>
                  <a:lnTo>
                    <a:pt x="0" y="978395"/>
                  </a:lnTo>
                  <a:lnTo>
                    <a:pt x="2103120" y="978395"/>
                  </a:lnTo>
                  <a:lnTo>
                    <a:pt x="2103120" y="941832"/>
                  </a:lnTo>
                  <a:close/>
                </a:path>
                <a:path w="2103120" h="978535">
                  <a:moveTo>
                    <a:pt x="21031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2103120" y="36576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273552" y="1389888"/>
            <a:ext cx="2651760" cy="3246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3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1: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Early-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Deteriorating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00">
              <a:latin typeface="Calibri"/>
              <a:cs typeface="Calibri"/>
            </a:endParaRPr>
          </a:p>
          <a:p>
            <a:pPr algn="ctr" marL="350520" marR="34226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Asymptomatic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colonization Incipient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fungal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00" i="1">
                <a:latin typeface="Arial"/>
                <a:cs typeface="Arial"/>
              </a:rPr>
              <a:t>→</a:t>
            </a:r>
            <a:r>
              <a:rPr dirty="0" sz="1300" spc="-90" i="1">
                <a:latin typeface="Arial"/>
                <a:cs typeface="Arial"/>
              </a:rPr>
              <a:t> </a:t>
            </a:r>
            <a:r>
              <a:rPr dirty="0" sz="1300" i="1">
                <a:latin typeface="Calibri"/>
                <a:cs typeface="Calibri"/>
              </a:rPr>
              <a:t>Why</a:t>
            </a:r>
            <a:r>
              <a:rPr dirty="0" sz="1300" spc="-25" i="1">
                <a:latin typeface="Calibri"/>
                <a:cs typeface="Calibri"/>
              </a:rPr>
              <a:t> </a:t>
            </a:r>
            <a:r>
              <a:rPr dirty="0" sz="1300" i="1">
                <a:latin typeface="Calibri"/>
                <a:cs typeface="Calibri"/>
              </a:rPr>
              <a:t>it</a:t>
            </a:r>
            <a:r>
              <a:rPr dirty="0" sz="1300" spc="-20" i="1">
                <a:latin typeface="Calibri"/>
                <a:cs typeface="Calibri"/>
              </a:rPr>
              <a:t> </a:t>
            </a:r>
            <a:r>
              <a:rPr dirty="0" sz="1300" spc="-10" i="1">
                <a:latin typeface="Calibri"/>
                <a:cs typeface="Calibri"/>
              </a:rPr>
              <a:t>matters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FPO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cert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failure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961363" y="1315228"/>
            <a:ext cx="2854960" cy="3449320"/>
            <a:chOff x="5961363" y="1315228"/>
            <a:chExt cx="2854960" cy="3449320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1363" y="1315228"/>
              <a:ext cx="2854960" cy="344932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089903" y="1389888"/>
              <a:ext cx="2651760" cy="3246120"/>
            </a:xfrm>
            <a:custGeom>
              <a:avLst/>
              <a:gdLst/>
              <a:ahLst/>
              <a:cxnLst/>
              <a:rect l="l" t="t" r="r" b="b"/>
              <a:pathLst>
                <a:path w="2651759" h="3246120">
                  <a:moveTo>
                    <a:pt x="2651759" y="3246119"/>
                  </a:moveTo>
                  <a:lnTo>
                    <a:pt x="0" y="3246119"/>
                  </a:lnTo>
                  <a:lnTo>
                    <a:pt x="0" y="0"/>
                  </a:lnTo>
                  <a:lnTo>
                    <a:pt x="2651759" y="0"/>
                  </a:lnTo>
                  <a:lnTo>
                    <a:pt x="2651759" y="3246119"/>
                  </a:lnTo>
                  <a:close/>
                </a:path>
              </a:pathLst>
            </a:custGeom>
            <a:solidFill>
              <a:srgbClr val="D9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364211" y="2670060"/>
              <a:ext cx="2103120" cy="978535"/>
            </a:xfrm>
            <a:custGeom>
              <a:avLst/>
              <a:gdLst/>
              <a:ahLst/>
              <a:cxnLst/>
              <a:rect l="l" t="t" r="r" b="b"/>
              <a:pathLst>
                <a:path w="2103120" h="978535">
                  <a:moveTo>
                    <a:pt x="2103120" y="941832"/>
                  </a:moveTo>
                  <a:lnTo>
                    <a:pt x="0" y="941832"/>
                  </a:lnTo>
                  <a:lnTo>
                    <a:pt x="0" y="978395"/>
                  </a:lnTo>
                  <a:lnTo>
                    <a:pt x="2103120" y="978395"/>
                  </a:lnTo>
                  <a:lnTo>
                    <a:pt x="2103120" y="941832"/>
                  </a:lnTo>
                  <a:close/>
                </a:path>
                <a:path w="2103120" h="978535">
                  <a:moveTo>
                    <a:pt x="21031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2103120" y="36576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089903" y="1389888"/>
            <a:ext cx="2651760" cy="324612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65"/>
              </a:spcBef>
            </a:pPr>
            <a:r>
              <a:rPr dirty="0" sz="3600" spc="-50">
                <a:solidFill>
                  <a:srgbClr val="FFFFFF"/>
                </a:solidFill>
                <a:latin typeface="MS PGothic"/>
                <a:cs typeface="MS PGothic"/>
              </a:rPr>
              <a:t>✕</a:t>
            </a:r>
            <a:endParaRPr sz="3600">
              <a:latin typeface="MS PGothic"/>
              <a:cs typeface="MS PGothic"/>
            </a:endParaRPr>
          </a:p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3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dirty="0" sz="13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Advanced-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Deteriorating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00">
              <a:latin typeface="Calibri"/>
              <a:cs typeface="Calibri"/>
            </a:endParaRPr>
          </a:p>
          <a:p>
            <a:pPr algn="ctr" marL="565150" marR="557530" indent="-635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mycotoxin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load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Irreversible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vigor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00" i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300" spc="-9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dirty="0" sz="13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3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FFFFFF"/>
                </a:solidFill>
                <a:latin typeface="Calibri"/>
                <a:cs typeface="Calibri"/>
              </a:rPr>
              <a:t>matters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INR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4L+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losses/100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lots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4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pc="-10"/>
              <a:t>Research</a:t>
            </a:r>
            <a:r>
              <a:rPr dirty="0" spc="-165"/>
              <a:t> </a:t>
            </a:r>
            <a:r>
              <a:rPr dirty="0" spc="-10"/>
              <a:t>Objectives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Five</a:t>
            </a:r>
            <a:r>
              <a:rPr dirty="0" sz="1300" spc="-4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precise,</a:t>
            </a:r>
            <a:r>
              <a:rPr dirty="0" sz="1300" spc="-4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measurable</a:t>
            </a:r>
            <a:r>
              <a:rPr dirty="0" sz="1300" spc="-4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goals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217438"/>
              <a:ext cx="8445500" cy="85598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298447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599" y="0"/>
                  </a:lnTo>
                  <a:lnTo>
                    <a:pt x="8229599" y="640079"/>
                  </a:lnTo>
                  <a:lnTo>
                    <a:pt x="0" y="640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57200" y="1298447"/>
            <a:ext cx="594360" cy="64008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00" spc="-25" b="1">
                <a:solidFill>
                  <a:srgbClr val="C8A951"/>
                </a:solidFill>
                <a:latin typeface="Calibri"/>
                <a:cs typeface="Calibri"/>
              </a:rPr>
              <a:t>O1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51560" y="1298447"/>
            <a:ext cx="763524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9695" rIns="0" bIns="0" rtlCol="0" vert="horz">
            <a:spAutoFit/>
          </a:bodyPr>
          <a:lstStyle/>
          <a:p>
            <a:pPr marL="167640" marR="742950">
              <a:lnSpc>
                <a:spcPct val="100000"/>
              </a:lnSpc>
              <a:spcBef>
                <a:spcPts val="785"/>
              </a:spcBef>
            </a:pP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Simulate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metagenomic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40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mer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profiles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Healthy,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Early,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&amp;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Advanced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seedlot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classes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(potato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0D2E2E"/>
                </a:solidFill>
                <a:latin typeface="Calibri"/>
                <a:cs typeface="Calibri"/>
              </a:rPr>
              <a:t>+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legume)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22309" y="1948958"/>
            <a:ext cx="8445500" cy="855980"/>
            <a:chOff x="322309" y="1948958"/>
            <a:chExt cx="8445500" cy="85598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948958"/>
              <a:ext cx="8445500" cy="85598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57199" y="2029967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599" y="0"/>
                  </a:lnTo>
                  <a:lnTo>
                    <a:pt x="8229599" y="640079"/>
                  </a:lnTo>
                  <a:lnTo>
                    <a:pt x="0" y="640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57200" y="2029967"/>
            <a:ext cx="594360" cy="64008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00" spc="-25" b="1">
                <a:solidFill>
                  <a:srgbClr val="C8A951"/>
                </a:solidFill>
                <a:latin typeface="Calibri"/>
                <a:cs typeface="Calibri"/>
              </a:rPr>
              <a:t>O2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51560" y="2029967"/>
            <a:ext cx="763524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Engineer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&amp;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normalize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40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mer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frequency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matrices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(k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=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6,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7,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8)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using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TF-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IDF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weighting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22309" y="2680478"/>
            <a:ext cx="8445500" cy="855980"/>
            <a:chOff x="322309" y="2680478"/>
            <a:chExt cx="8445500" cy="85598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2680478"/>
              <a:ext cx="8445500" cy="85598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57199" y="2761488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79">
                  <a:moveTo>
                    <a:pt x="0" y="0"/>
                  </a:moveTo>
                  <a:lnTo>
                    <a:pt x="8229599" y="0"/>
                  </a:lnTo>
                  <a:lnTo>
                    <a:pt x="8229599" y="640079"/>
                  </a:lnTo>
                  <a:lnTo>
                    <a:pt x="0" y="640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57200" y="2761488"/>
            <a:ext cx="594360" cy="64008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00" spc="-25" b="1">
                <a:solidFill>
                  <a:srgbClr val="C8A951"/>
                </a:solidFill>
                <a:latin typeface="Calibri"/>
                <a:cs typeface="Calibri"/>
              </a:rPr>
              <a:t>O3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51560" y="2761488"/>
            <a:ext cx="763524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Train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&amp;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optimize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ANN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(MLP),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1D-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CNN,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Random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Forest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classifiers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multi-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class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prediction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22309" y="3411999"/>
            <a:ext cx="8445500" cy="855980"/>
            <a:chOff x="322309" y="3411999"/>
            <a:chExt cx="8445500" cy="855980"/>
          </a:xfrm>
        </p:grpSpPr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3411999"/>
              <a:ext cx="8445500" cy="85598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57199" y="3493007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79">
                  <a:moveTo>
                    <a:pt x="0" y="0"/>
                  </a:moveTo>
                  <a:lnTo>
                    <a:pt x="8229599" y="0"/>
                  </a:lnTo>
                  <a:lnTo>
                    <a:pt x="8229599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457200" y="3493007"/>
            <a:ext cx="594360" cy="64008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00" spc="-25" b="1">
                <a:solidFill>
                  <a:srgbClr val="C8A951"/>
                </a:solidFill>
                <a:latin typeface="Calibri"/>
                <a:cs typeface="Calibri"/>
              </a:rPr>
              <a:t>O4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51560" y="3493007"/>
            <a:ext cx="763524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Evaluate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models: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D2E2E"/>
                </a:solidFill>
                <a:latin typeface="Calibri"/>
                <a:cs typeface="Calibri"/>
              </a:rPr>
              <a:t>Accuracy,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Macro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F1,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AUC-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ROC,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MCC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&amp;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Confusion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Matrix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under</a:t>
            </a:r>
            <a:r>
              <a:rPr dirty="0" sz="14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5-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fold</a:t>
            </a:r>
            <a:r>
              <a:rPr dirty="0" sz="14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CV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22309" y="4143518"/>
            <a:ext cx="8445500" cy="855980"/>
            <a:chOff x="322309" y="4143518"/>
            <a:chExt cx="8445500" cy="855980"/>
          </a:xfrm>
        </p:grpSpPr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4143518"/>
              <a:ext cx="8445500" cy="85598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57199" y="4224527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79">
                  <a:moveTo>
                    <a:pt x="0" y="0"/>
                  </a:moveTo>
                  <a:lnTo>
                    <a:pt x="8229599" y="0"/>
                  </a:lnTo>
                  <a:lnTo>
                    <a:pt x="8229599" y="640079"/>
                  </a:lnTo>
                  <a:lnTo>
                    <a:pt x="0" y="640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57200" y="4224527"/>
            <a:ext cx="594360" cy="64008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00" spc="-25" b="1">
                <a:solidFill>
                  <a:srgbClr val="C8A951"/>
                </a:solidFill>
                <a:latin typeface="Calibri"/>
                <a:cs typeface="Calibri"/>
              </a:rPr>
              <a:t>O5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5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1051560" y="4224527"/>
            <a:ext cx="763524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Identify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discriminative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40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mers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biologically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linked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Fusarium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&amp;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2E2E"/>
                </a:solidFill>
                <a:latin typeface="Calibri"/>
                <a:cs typeface="Calibri"/>
              </a:rPr>
              <a:t>Botrytis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genome</a:t>
            </a:r>
            <a:r>
              <a:rPr dirty="0" sz="14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2E2E"/>
                </a:solidFill>
                <a:latin typeface="Calibri"/>
                <a:cs typeface="Calibri"/>
              </a:rPr>
              <a:t>signatures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pc="-20"/>
              <a:t>Literature</a:t>
            </a:r>
            <a:r>
              <a:rPr dirty="0" spc="-114"/>
              <a:t> </a:t>
            </a:r>
            <a:r>
              <a:rPr dirty="0" spc="-10"/>
              <a:t>Review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What's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been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done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—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and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what's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still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missing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217439"/>
              <a:ext cx="2867660" cy="350774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298447"/>
              <a:ext cx="2651760" cy="3291840"/>
            </a:xfrm>
            <a:custGeom>
              <a:avLst/>
              <a:gdLst/>
              <a:ahLst/>
              <a:cxnLst/>
              <a:rect l="l" t="t" r="r" b="b"/>
              <a:pathLst>
                <a:path w="2651760" h="3291840">
                  <a:moveTo>
                    <a:pt x="0" y="0"/>
                  </a:moveTo>
                  <a:lnTo>
                    <a:pt x="2651759" y="0"/>
                  </a:lnTo>
                  <a:lnTo>
                    <a:pt x="2651759" y="3291839"/>
                  </a:lnTo>
                  <a:lnTo>
                    <a:pt x="0" y="3291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57200" y="1298447"/>
            <a:ext cx="2651760" cy="34798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67945" rIns="0" bIns="0" rtlCol="0" vert="horz">
            <a:spAutoFit/>
          </a:bodyPr>
          <a:lstStyle/>
          <a:p>
            <a:pPr marL="601345">
              <a:lnSpc>
                <a:spcPct val="100000"/>
              </a:lnSpc>
              <a:spcBef>
                <a:spcPts val="535"/>
              </a:spcBef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RF</a:t>
            </a:r>
            <a:r>
              <a:rPr dirty="0" sz="1300" spc="-3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in</a:t>
            </a:r>
            <a:r>
              <a:rPr dirty="0" sz="1300" spc="-2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Plant</a:t>
            </a:r>
            <a:r>
              <a:rPr dirty="0" sz="1300" spc="-2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Pathology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7200" y="1645920"/>
            <a:ext cx="2651760" cy="2944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7465" rIns="0" bIns="0" rtlCol="0" vert="horz">
            <a:spAutoFit/>
          </a:bodyPr>
          <a:lstStyle/>
          <a:p>
            <a:pPr marL="139065" marR="1094105">
              <a:lnSpc>
                <a:spcPct val="138500"/>
              </a:lnSpc>
              <a:spcBef>
                <a:spcPts val="295"/>
              </a:spcBef>
            </a:pP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Barbedo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2019: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RF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111111"/>
                </a:solidFill>
                <a:latin typeface="Arial MT"/>
                <a:cs typeface="Arial MT"/>
              </a:rPr>
              <a:t>→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87–94%</a:t>
            </a:r>
            <a:r>
              <a:rPr dirty="0" sz="1300" spc="-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acc</a:t>
            </a:r>
            <a:r>
              <a:rPr dirty="0" sz="1300" spc="5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Johannes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et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al.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2017: outperforms</a:t>
            </a:r>
            <a:r>
              <a:rPr dirty="0" sz="13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SVM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on</a:t>
            </a:r>
            <a:endParaRPr sz="1300">
              <a:latin typeface="Calibri"/>
              <a:cs typeface="Calibri"/>
            </a:endParaRPr>
          </a:p>
          <a:p>
            <a:pPr marL="139065" marR="967740">
              <a:lnSpc>
                <a:spcPct val="138500"/>
              </a:lnSpc>
            </a:pP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high-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dim</a:t>
            </a:r>
            <a:r>
              <a:rPr dirty="0" sz="1300" spc="-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genomic</a:t>
            </a:r>
            <a:r>
              <a:rPr dirty="0" sz="1300" spc="-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data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Picon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et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al.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2019:</a:t>
            </a:r>
            <a:endParaRPr sz="13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600"/>
              </a:spcBef>
            </a:pP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F1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&gt;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0.89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on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wheat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138661" y="1217439"/>
            <a:ext cx="2867660" cy="3507740"/>
            <a:chOff x="3138661" y="1217439"/>
            <a:chExt cx="2867660" cy="350774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8661" y="1217439"/>
              <a:ext cx="2867660" cy="350774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273551" y="1298448"/>
              <a:ext cx="2651760" cy="3291840"/>
            </a:xfrm>
            <a:custGeom>
              <a:avLst/>
              <a:gdLst/>
              <a:ahLst/>
              <a:cxnLst/>
              <a:rect l="l" t="t" r="r" b="b"/>
              <a:pathLst>
                <a:path w="2651760" h="3291840">
                  <a:moveTo>
                    <a:pt x="0" y="0"/>
                  </a:moveTo>
                  <a:lnTo>
                    <a:pt x="2651759" y="0"/>
                  </a:lnTo>
                  <a:lnTo>
                    <a:pt x="2651759" y="3291839"/>
                  </a:lnTo>
                  <a:lnTo>
                    <a:pt x="0" y="3291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273552" y="1298447"/>
            <a:ext cx="2651760" cy="34798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67945" rIns="0" bIns="0" rtlCol="0" vert="horz">
            <a:spAutoFit/>
          </a:bodyPr>
          <a:lstStyle/>
          <a:p>
            <a:pPr marL="683260">
              <a:lnSpc>
                <a:spcPct val="100000"/>
              </a:lnSpc>
              <a:spcBef>
                <a:spcPts val="535"/>
              </a:spcBef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CNN</a:t>
            </a:r>
            <a:r>
              <a:rPr dirty="0" sz="1300" spc="-3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on</a:t>
            </a:r>
            <a:r>
              <a:rPr dirty="0" sz="1300" spc="-3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Sequences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73552" y="1645920"/>
            <a:ext cx="2651760" cy="2944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143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00"/>
              </a:spcBef>
            </a:pP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CNN-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MGP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(Ren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2022):</a:t>
            </a:r>
            <a:endParaRPr sz="13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600"/>
              </a:spcBef>
            </a:pP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91%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pathogen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detect</a:t>
            </a:r>
            <a:endParaRPr sz="13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600"/>
              </a:spcBef>
            </a:pP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Tampuu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2019: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1D-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CNN</a:t>
            </a:r>
            <a:endParaRPr sz="1300">
              <a:latin typeface="Calibri"/>
              <a:cs typeface="Calibri"/>
            </a:endParaRPr>
          </a:p>
          <a:p>
            <a:pPr marL="139065" marR="641985">
              <a:lnSpc>
                <a:spcPct val="138500"/>
              </a:lnSpc>
            </a:pP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on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k-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mer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reads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Arial MT"/>
                <a:cs typeface="Arial MT"/>
              </a:rPr>
              <a:t>→</a:t>
            </a:r>
            <a:r>
              <a:rPr dirty="0" sz="1300" spc="-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AUC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0.94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Mohanty</a:t>
            </a:r>
            <a:r>
              <a:rPr dirty="0" sz="13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2016: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deep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CNN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on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PlantVillage</a:t>
            </a:r>
            <a:r>
              <a:rPr dirty="0" sz="1300" spc="-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Arial MT"/>
                <a:cs typeface="Arial MT"/>
              </a:rPr>
              <a:t>→</a:t>
            </a:r>
            <a:r>
              <a:rPr dirty="0" sz="130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99%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955013" y="1217439"/>
            <a:ext cx="2867660" cy="3507740"/>
            <a:chOff x="5955013" y="1217439"/>
            <a:chExt cx="2867660" cy="350774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5013" y="1217439"/>
              <a:ext cx="2867660" cy="350774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089903" y="1298448"/>
              <a:ext cx="2651760" cy="3291840"/>
            </a:xfrm>
            <a:custGeom>
              <a:avLst/>
              <a:gdLst/>
              <a:ahLst/>
              <a:cxnLst/>
              <a:rect l="l" t="t" r="r" b="b"/>
              <a:pathLst>
                <a:path w="2651759" h="3291840">
                  <a:moveTo>
                    <a:pt x="0" y="0"/>
                  </a:moveTo>
                  <a:lnTo>
                    <a:pt x="2651759" y="0"/>
                  </a:lnTo>
                  <a:lnTo>
                    <a:pt x="2651759" y="3291839"/>
                  </a:lnTo>
                  <a:lnTo>
                    <a:pt x="0" y="3291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089903" y="1298447"/>
            <a:ext cx="2651760" cy="34798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67945" rIns="0" bIns="0" rtlCol="0" vert="horz">
            <a:spAutoFit/>
          </a:bodyPr>
          <a:lstStyle/>
          <a:p>
            <a:pPr marL="799465">
              <a:lnSpc>
                <a:spcPct val="100000"/>
              </a:lnSpc>
              <a:spcBef>
                <a:spcPts val="535"/>
              </a:spcBef>
            </a:pPr>
            <a:r>
              <a:rPr dirty="0" sz="1300" spc="-40" b="1">
                <a:solidFill>
                  <a:srgbClr val="C8A951"/>
                </a:solidFill>
                <a:latin typeface="Calibri"/>
                <a:cs typeface="Calibri"/>
              </a:rPr>
              <a:t>k-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mer</a:t>
            </a:r>
            <a:r>
              <a:rPr dirty="0" sz="13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Methods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6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6089903" y="1645920"/>
            <a:ext cx="2651760" cy="2944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7465" rIns="0" bIns="0" rtlCol="0" vert="horz">
            <a:spAutoFit/>
          </a:bodyPr>
          <a:lstStyle/>
          <a:p>
            <a:pPr algn="just" marL="139065" marR="1012825">
              <a:lnSpc>
                <a:spcPct val="138500"/>
              </a:lnSpc>
              <a:spcBef>
                <a:spcPts val="295"/>
              </a:spcBef>
            </a:pP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Kraken2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(Wood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2019): </a:t>
            </a:r>
            <a:r>
              <a:rPr dirty="0" sz="1300" spc="-25">
                <a:solidFill>
                  <a:srgbClr val="111111"/>
                </a:solidFill>
                <a:latin typeface="Calibri"/>
                <a:cs typeface="Calibri"/>
              </a:rPr>
              <a:t>ultra-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fast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k-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mer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 match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CLARK</a:t>
            </a:r>
            <a:r>
              <a:rPr dirty="0" sz="13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(Ounit</a:t>
            </a:r>
            <a:r>
              <a:rPr dirty="0" sz="13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2015):</a:t>
            </a:r>
            <a:endParaRPr sz="1300">
              <a:latin typeface="Calibri"/>
              <a:cs typeface="Calibri"/>
            </a:endParaRPr>
          </a:p>
          <a:p>
            <a:pPr marL="139065" marR="1078230">
              <a:lnSpc>
                <a:spcPct val="138500"/>
              </a:lnSpc>
            </a:pP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discriminative</a:t>
            </a:r>
            <a:r>
              <a:rPr dirty="0" sz="1300" spc="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k-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mers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Berg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et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al.</a:t>
            </a:r>
            <a:r>
              <a:rPr dirty="0" sz="13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2020:</a:t>
            </a:r>
            <a:endParaRPr sz="1300">
              <a:latin typeface="Calibri"/>
              <a:cs typeface="Calibri"/>
            </a:endParaRPr>
          </a:p>
          <a:p>
            <a:pPr marL="139065" marR="862965">
              <a:lnSpc>
                <a:spcPct val="138500"/>
              </a:lnSpc>
            </a:pP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seed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microbiome</a:t>
            </a:r>
            <a:r>
              <a:rPr dirty="0" sz="13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shifts encode</a:t>
            </a:r>
            <a:r>
              <a:rPr dirty="0" sz="1300" spc="-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11111"/>
                </a:solidFill>
                <a:latin typeface="Calibri"/>
                <a:cs typeface="Calibri"/>
              </a:rPr>
              <a:t>germination </a:t>
            </a:r>
            <a:r>
              <a:rPr dirty="0" sz="1300" spc="-20">
                <a:solidFill>
                  <a:srgbClr val="111111"/>
                </a:solidFill>
                <a:latin typeface="Calibri"/>
                <a:cs typeface="Calibri"/>
              </a:rPr>
              <a:t>info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57200" y="4626864"/>
            <a:ext cx="8229600" cy="201295"/>
          </a:xfrm>
          <a:prstGeom prst="rect">
            <a:avLst/>
          </a:prstGeom>
          <a:solidFill>
            <a:srgbClr val="C8A951"/>
          </a:solidFill>
        </p:spPr>
        <p:txBody>
          <a:bodyPr wrap="square" lIns="0" tIns="19050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50"/>
              </a:spcBef>
            </a:pP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Research</a:t>
            </a:r>
            <a:r>
              <a:rPr dirty="0" sz="10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Gap: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No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integrated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ANN/CNN/RF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comparison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storage</a:t>
            </a:r>
            <a:r>
              <a:rPr dirty="0" sz="10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metagenome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mer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features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—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especially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India-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specific</a:t>
            </a:r>
            <a:r>
              <a:rPr dirty="0" sz="1000" spc="-1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2E2E"/>
                </a:solidFill>
                <a:latin typeface="Calibri"/>
                <a:cs typeface="Calibri"/>
              </a:rPr>
              <a:t>FPO</a:t>
            </a:r>
            <a:r>
              <a:rPr dirty="0" sz="10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E2E"/>
                </a:solidFill>
                <a:latin typeface="Calibri"/>
                <a:cs typeface="Calibri"/>
              </a:rPr>
              <a:t>deployment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143255"/>
            <a:ext cx="82550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1665" algn="l"/>
              </a:tabLst>
            </a:pP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Methodology</a:t>
            </a:r>
            <a:r>
              <a:rPr dirty="0" u="heavy" sz="3200" spc="-105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—</a:t>
            </a:r>
            <a:r>
              <a:rPr dirty="0" u="heavy" sz="3200" spc="-1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System</a:t>
            </a:r>
            <a:r>
              <a:rPr dirty="0" u="heavy" sz="3200" spc="-1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Architecture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	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732028"/>
            <a:ext cx="36601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i="1">
                <a:solidFill>
                  <a:srgbClr val="2DBE9E"/>
                </a:solidFill>
                <a:latin typeface="Calibri"/>
                <a:cs typeface="Calibri"/>
              </a:rPr>
              <a:t>End-to-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end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pipeline: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raw</a:t>
            </a:r>
            <a:r>
              <a:rPr dirty="0" sz="1300" spc="-20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reads</a:t>
            </a:r>
            <a:r>
              <a:rPr dirty="0" sz="1300" spc="-10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Arial"/>
                <a:cs typeface="Arial"/>
              </a:rPr>
              <a:t>→</a:t>
            </a:r>
            <a:r>
              <a:rPr dirty="0" sz="1300" spc="-85" i="1">
                <a:solidFill>
                  <a:srgbClr val="2DBE9E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classification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2DBE9E"/>
                </a:solidFill>
                <a:latin typeface="Calibri"/>
                <a:cs typeface="Calibri"/>
              </a:rPr>
              <a:t>output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55507" y="1040908"/>
            <a:ext cx="1711960" cy="1026160"/>
            <a:chOff x="255507" y="1040908"/>
            <a:chExt cx="1711960" cy="10261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507" y="1040908"/>
              <a:ext cx="1711960" cy="102616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84047" y="1115567"/>
              <a:ext cx="1508760" cy="822960"/>
            </a:xfrm>
            <a:custGeom>
              <a:avLst/>
              <a:gdLst/>
              <a:ahLst/>
              <a:cxnLst/>
              <a:rect l="l" t="t" r="r" b="b"/>
              <a:pathLst>
                <a:path w="1508760" h="822960">
                  <a:moveTo>
                    <a:pt x="1508759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82295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85492" y="1341120"/>
            <a:ext cx="11068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dirty="0" sz="11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Metagenomic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dirty="0" sz="11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(FASTA)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892807" y="1040908"/>
            <a:ext cx="1757680" cy="1026160"/>
            <a:chOff x="1892807" y="1040908"/>
            <a:chExt cx="1757680" cy="1026160"/>
          </a:xfrm>
        </p:grpSpPr>
        <p:sp>
          <p:nvSpPr>
            <p:cNvPr id="10" name="object 10" descr=""/>
            <p:cNvSpPr/>
            <p:nvPr/>
          </p:nvSpPr>
          <p:spPr>
            <a:xfrm>
              <a:off x="1892807" y="1463039"/>
              <a:ext cx="173990" cy="128270"/>
            </a:xfrm>
            <a:custGeom>
              <a:avLst/>
              <a:gdLst/>
              <a:ahLst/>
              <a:cxnLst/>
              <a:rect l="l" t="t" r="r" b="b"/>
              <a:pathLst>
                <a:path w="173989" h="128269">
                  <a:moveTo>
                    <a:pt x="173735" y="128015"/>
                  </a:moveTo>
                  <a:lnTo>
                    <a:pt x="0" y="128015"/>
                  </a:lnTo>
                  <a:lnTo>
                    <a:pt x="0" y="0"/>
                  </a:lnTo>
                  <a:lnTo>
                    <a:pt x="173735" y="0"/>
                  </a:lnTo>
                  <a:lnTo>
                    <a:pt x="173735" y="12801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8003" y="1040908"/>
              <a:ext cx="1711960" cy="102616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066543" y="1115567"/>
              <a:ext cx="1508760" cy="822960"/>
            </a:xfrm>
            <a:custGeom>
              <a:avLst/>
              <a:gdLst/>
              <a:ahLst/>
              <a:cxnLst/>
              <a:rect l="l" t="t" r="r" b="b"/>
              <a:pathLst>
                <a:path w="1508760" h="822960">
                  <a:moveTo>
                    <a:pt x="1508759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822959"/>
                  </a:lnTo>
                  <a:close/>
                </a:path>
              </a:pathLst>
            </a:custGeom>
            <a:solidFill>
              <a:srgbClr val="1A7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570910" y="1341120"/>
            <a:ext cx="5003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Quality Filtering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575303" y="1040908"/>
            <a:ext cx="1757680" cy="1026160"/>
            <a:chOff x="3575303" y="1040908"/>
            <a:chExt cx="1757680" cy="1026160"/>
          </a:xfrm>
        </p:grpSpPr>
        <p:sp>
          <p:nvSpPr>
            <p:cNvPr id="15" name="object 15" descr=""/>
            <p:cNvSpPr/>
            <p:nvPr/>
          </p:nvSpPr>
          <p:spPr>
            <a:xfrm>
              <a:off x="3575303" y="1463039"/>
              <a:ext cx="173990" cy="128270"/>
            </a:xfrm>
            <a:custGeom>
              <a:avLst/>
              <a:gdLst/>
              <a:ahLst/>
              <a:cxnLst/>
              <a:rect l="l" t="t" r="r" b="b"/>
              <a:pathLst>
                <a:path w="173989" h="128269">
                  <a:moveTo>
                    <a:pt x="173735" y="128015"/>
                  </a:moveTo>
                  <a:lnTo>
                    <a:pt x="0" y="128015"/>
                  </a:lnTo>
                  <a:lnTo>
                    <a:pt x="0" y="0"/>
                  </a:lnTo>
                  <a:lnTo>
                    <a:pt x="173735" y="0"/>
                  </a:lnTo>
                  <a:lnTo>
                    <a:pt x="173735" y="12801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0499" y="1040908"/>
              <a:ext cx="1711960" cy="102616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749039" y="1115567"/>
              <a:ext cx="1508760" cy="822960"/>
            </a:xfrm>
            <a:custGeom>
              <a:avLst/>
              <a:gdLst/>
              <a:ahLst/>
              <a:cxnLst/>
              <a:rect l="l" t="t" r="r" b="b"/>
              <a:pathLst>
                <a:path w="1508760" h="822960">
                  <a:moveTo>
                    <a:pt x="1508759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822959"/>
                  </a:lnTo>
                  <a:close/>
                </a:path>
              </a:pathLst>
            </a:custGeom>
            <a:solidFill>
              <a:srgbClr val="1A7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012140" y="1341120"/>
            <a:ext cx="98234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854" marR="5080" indent="-224790">
              <a:lnSpc>
                <a:spcPct val="100000"/>
              </a:lnSpc>
              <a:spcBef>
                <a:spcPts val="100"/>
              </a:spcBef>
            </a:pPr>
            <a:r>
              <a:rPr dirty="0" sz="1100" spc="-30" b="1">
                <a:solidFill>
                  <a:srgbClr val="FFFFFF"/>
                </a:solidFill>
                <a:latin typeface="Calibri"/>
                <a:cs typeface="Calibri"/>
              </a:rPr>
              <a:t>k-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mer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Extraction (k=6,7,8)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257800" y="1040908"/>
            <a:ext cx="1757680" cy="1026160"/>
            <a:chOff x="5257800" y="1040908"/>
            <a:chExt cx="1757680" cy="1026160"/>
          </a:xfrm>
        </p:grpSpPr>
        <p:sp>
          <p:nvSpPr>
            <p:cNvPr id="20" name="object 20" descr=""/>
            <p:cNvSpPr/>
            <p:nvPr/>
          </p:nvSpPr>
          <p:spPr>
            <a:xfrm>
              <a:off x="5257800" y="1463039"/>
              <a:ext cx="173990" cy="128270"/>
            </a:xfrm>
            <a:custGeom>
              <a:avLst/>
              <a:gdLst/>
              <a:ahLst/>
              <a:cxnLst/>
              <a:rect l="l" t="t" r="r" b="b"/>
              <a:pathLst>
                <a:path w="173989" h="128269">
                  <a:moveTo>
                    <a:pt x="173735" y="128015"/>
                  </a:moveTo>
                  <a:lnTo>
                    <a:pt x="0" y="128015"/>
                  </a:lnTo>
                  <a:lnTo>
                    <a:pt x="0" y="0"/>
                  </a:lnTo>
                  <a:lnTo>
                    <a:pt x="173735" y="0"/>
                  </a:lnTo>
                  <a:lnTo>
                    <a:pt x="173735" y="12801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995" y="1040908"/>
              <a:ext cx="1711960" cy="102616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431536" y="1115567"/>
              <a:ext cx="1508760" cy="822960"/>
            </a:xfrm>
            <a:custGeom>
              <a:avLst/>
              <a:gdLst/>
              <a:ahLst/>
              <a:cxnLst/>
              <a:rect l="l" t="t" r="r" b="b"/>
              <a:pathLst>
                <a:path w="1508759" h="822960">
                  <a:moveTo>
                    <a:pt x="1508759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822959"/>
                  </a:lnTo>
                  <a:close/>
                </a:path>
              </a:pathLst>
            </a:custGeom>
            <a:solidFill>
              <a:srgbClr val="1A7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762390" y="1341120"/>
            <a:ext cx="84709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TF-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IDF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Normalization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940295" y="1040908"/>
            <a:ext cx="1757680" cy="1026160"/>
            <a:chOff x="6940295" y="1040908"/>
            <a:chExt cx="1757680" cy="1026160"/>
          </a:xfrm>
        </p:grpSpPr>
        <p:sp>
          <p:nvSpPr>
            <p:cNvPr id="25" name="object 25" descr=""/>
            <p:cNvSpPr/>
            <p:nvPr/>
          </p:nvSpPr>
          <p:spPr>
            <a:xfrm>
              <a:off x="6940295" y="1463039"/>
              <a:ext cx="173990" cy="128270"/>
            </a:xfrm>
            <a:custGeom>
              <a:avLst/>
              <a:gdLst/>
              <a:ahLst/>
              <a:cxnLst/>
              <a:rect l="l" t="t" r="r" b="b"/>
              <a:pathLst>
                <a:path w="173990" h="128269">
                  <a:moveTo>
                    <a:pt x="173735" y="128015"/>
                  </a:moveTo>
                  <a:lnTo>
                    <a:pt x="0" y="128015"/>
                  </a:lnTo>
                  <a:lnTo>
                    <a:pt x="0" y="0"/>
                  </a:lnTo>
                  <a:lnTo>
                    <a:pt x="173735" y="0"/>
                  </a:lnTo>
                  <a:lnTo>
                    <a:pt x="173735" y="12801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5491" y="1040908"/>
              <a:ext cx="1711960" cy="102616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114031" y="1115567"/>
              <a:ext cx="1508760" cy="822960"/>
            </a:xfrm>
            <a:custGeom>
              <a:avLst/>
              <a:gdLst/>
              <a:ahLst/>
              <a:cxnLst/>
              <a:rect l="l" t="t" r="r" b="b"/>
              <a:pathLst>
                <a:path w="1508759" h="822960">
                  <a:moveTo>
                    <a:pt x="1508760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508760" y="0"/>
                  </a:lnTo>
                  <a:lnTo>
                    <a:pt x="1508760" y="82295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539497" y="1341120"/>
            <a:ext cx="6572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80/20</a:t>
            </a:r>
            <a:r>
              <a:rPr dirty="0" sz="11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11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SMOTE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712320" y="2154936"/>
            <a:ext cx="17195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Parallel</a:t>
            </a:r>
            <a:r>
              <a:rPr dirty="0" sz="1400" spc="-4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Model</a:t>
            </a:r>
            <a:r>
              <a:rPr dirty="0" sz="1400" spc="-3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Training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11539" y="2395727"/>
            <a:ext cx="2534920" cy="1473200"/>
            <a:chOff x="511539" y="2395727"/>
            <a:chExt cx="2534920" cy="1473200"/>
          </a:xfrm>
        </p:grpSpPr>
        <p:sp>
          <p:nvSpPr>
            <p:cNvPr id="31" name="object 31" descr=""/>
            <p:cNvSpPr/>
            <p:nvPr/>
          </p:nvSpPr>
          <p:spPr>
            <a:xfrm>
              <a:off x="1280159" y="2395727"/>
              <a:ext cx="36830" cy="320040"/>
            </a:xfrm>
            <a:custGeom>
              <a:avLst/>
              <a:gdLst/>
              <a:ahLst/>
              <a:cxnLst/>
              <a:rect l="l" t="t" r="r" b="b"/>
              <a:pathLst>
                <a:path w="36830" h="320039">
                  <a:moveTo>
                    <a:pt x="36575" y="320039"/>
                  </a:moveTo>
                  <a:lnTo>
                    <a:pt x="0" y="320039"/>
                  </a:lnTo>
                  <a:lnTo>
                    <a:pt x="0" y="0"/>
                  </a:lnTo>
                  <a:lnTo>
                    <a:pt x="36575" y="0"/>
                  </a:lnTo>
                  <a:lnTo>
                    <a:pt x="36575" y="320039"/>
                  </a:lnTo>
                  <a:close/>
                </a:path>
              </a:pathLst>
            </a:custGeom>
            <a:solidFill>
              <a:srgbClr val="D9E7E6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539" y="2641108"/>
              <a:ext cx="2534920" cy="1227328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640080" y="2715767"/>
            <a:ext cx="2331720" cy="1024255"/>
          </a:xfrm>
          <a:prstGeom prst="rect">
            <a:avLst/>
          </a:prstGeom>
          <a:solidFill>
            <a:srgbClr val="1A5C3E"/>
          </a:solidFill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500" b="1">
                <a:solidFill>
                  <a:srgbClr val="C8A951"/>
                </a:solidFill>
                <a:latin typeface="Calibri"/>
                <a:cs typeface="Calibri"/>
              </a:rPr>
              <a:t>Random</a:t>
            </a:r>
            <a:r>
              <a:rPr dirty="0" sz="1500" spc="-8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C8A951"/>
                </a:solidFill>
                <a:latin typeface="Calibri"/>
                <a:cs typeface="Calibri"/>
              </a:rPr>
              <a:t>Forest</a:t>
            </a:r>
            <a:endParaRPr sz="1500">
              <a:latin typeface="Calibri"/>
              <a:cs typeface="Calibri"/>
            </a:endParaRPr>
          </a:p>
          <a:p>
            <a:pPr algn="ctr" marL="795655" marR="788670">
              <a:lnSpc>
                <a:spcPct val="100000"/>
              </a:lnSpc>
              <a:spcBef>
                <a:spcPts val="107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trees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Gini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criterion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importance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209019" y="2395727"/>
            <a:ext cx="2534920" cy="1473200"/>
            <a:chOff x="3209019" y="2395727"/>
            <a:chExt cx="2534920" cy="1473200"/>
          </a:xfrm>
        </p:grpSpPr>
        <p:sp>
          <p:nvSpPr>
            <p:cNvPr id="35" name="object 35" descr=""/>
            <p:cNvSpPr/>
            <p:nvPr/>
          </p:nvSpPr>
          <p:spPr>
            <a:xfrm>
              <a:off x="3977639" y="2395727"/>
              <a:ext cx="36830" cy="320040"/>
            </a:xfrm>
            <a:custGeom>
              <a:avLst/>
              <a:gdLst/>
              <a:ahLst/>
              <a:cxnLst/>
              <a:rect l="l" t="t" r="r" b="b"/>
              <a:pathLst>
                <a:path w="36829" h="320039">
                  <a:moveTo>
                    <a:pt x="36575" y="320039"/>
                  </a:moveTo>
                  <a:lnTo>
                    <a:pt x="0" y="320039"/>
                  </a:lnTo>
                  <a:lnTo>
                    <a:pt x="0" y="0"/>
                  </a:lnTo>
                  <a:lnTo>
                    <a:pt x="36575" y="0"/>
                  </a:lnTo>
                  <a:lnTo>
                    <a:pt x="36575" y="320039"/>
                  </a:lnTo>
                  <a:close/>
                </a:path>
              </a:pathLst>
            </a:custGeom>
            <a:solidFill>
              <a:srgbClr val="D9E7E6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9019" y="2641108"/>
              <a:ext cx="2534920" cy="1227328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3337559" y="2715767"/>
            <a:ext cx="2331720" cy="1024255"/>
          </a:xfrm>
          <a:prstGeom prst="rect">
            <a:avLst/>
          </a:prstGeom>
          <a:solidFill>
            <a:srgbClr val="1A796E"/>
          </a:solidFill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500" b="1">
                <a:solidFill>
                  <a:srgbClr val="C8A951"/>
                </a:solidFill>
                <a:latin typeface="Calibri"/>
                <a:cs typeface="Calibri"/>
              </a:rPr>
              <a:t>ANN</a:t>
            </a:r>
            <a:r>
              <a:rPr dirty="0" sz="1500" spc="-4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C8A951"/>
                </a:solidFill>
                <a:latin typeface="Calibri"/>
                <a:cs typeface="Calibri"/>
              </a:rPr>
              <a:t>(MLP)</a:t>
            </a:r>
            <a:endParaRPr sz="1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4096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128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64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algn="ctr" marL="714375" marR="706755" indent="-635">
              <a:lnSpc>
                <a:spcPct val="100000"/>
              </a:lnSpc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ReLU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Dropout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Adam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optimizer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906499" y="2395727"/>
            <a:ext cx="2534920" cy="1473200"/>
            <a:chOff x="5906499" y="2395727"/>
            <a:chExt cx="2534920" cy="1473200"/>
          </a:xfrm>
        </p:grpSpPr>
        <p:sp>
          <p:nvSpPr>
            <p:cNvPr id="39" name="object 39" descr=""/>
            <p:cNvSpPr/>
            <p:nvPr/>
          </p:nvSpPr>
          <p:spPr>
            <a:xfrm>
              <a:off x="6675120" y="2395727"/>
              <a:ext cx="36830" cy="320040"/>
            </a:xfrm>
            <a:custGeom>
              <a:avLst/>
              <a:gdLst/>
              <a:ahLst/>
              <a:cxnLst/>
              <a:rect l="l" t="t" r="r" b="b"/>
              <a:pathLst>
                <a:path w="36829" h="320039">
                  <a:moveTo>
                    <a:pt x="36575" y="320039"/>
                  </a:moveTo>
                  <a:lnTo>
                    <a:pt x="0" y="320039"/>
                  </a:lnTo>
                  <a:lnTo>
                    <a:pt x="0" y="0"/>
                  </a:lnTo>
                  <a:lnTo>
                    <a:pt x="36575" y="0"/>
                  </a:lnTo>
                  <a:lnTo>
                    <a:pt x="36575" y="320039"/>
                  </a:lnTo>
                  <a:close/>
                </a:path>
              </a:pathLst>
            </a:custGeom>
            <a:solidFill>
              <a:srgbClr val="D9E7E6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6499" y="2641108"/>
              <a:ext cx="2534920" cy="1227328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6035040" y="2715767"/>
            <a:ext cx="2331720" cy="1024255"/>
          </a:xfrm>
          <a:prstGeom prst="rect">
            <a:avLst/>
          </a:prstGeom>
          <a:solidFill>
            <a:srgbClr val="145757"/>
          </a:solidFill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500" spc="-20" b="1">
                <a:solidFill>
                  <a:srgbClr val="C8A951"/>
                </a:solidFill>
                <a:latin typeface="Calibri"/>
                <a:cs typeface="Calibri"/>
              </a:rPr>
              <a:t>1D-</a:t>
            </a:r>
            <a:r>
              <a:rPr dirty="0" sz="1500" spc="-25" b="1">
                <a:solidFill>
                  <a:srgbClr val="C8A951"/>
                </a:solidFill>
                <a:latin typeface="Calibri"/>
                <a:cs typeface="Calibri"/>
              </a:rPr>
              <a:t>CNN</a:t>
            </a:r>
            <a:endParaRPr sz="1500">
              <a:latin typeface="Calibri"/>
              <a:cs typeface="Calibri"/>
            </a:endParaRPr>
          </a:p>
          <a:p>
            <a:pPr algn="ctr" marL="581660" marR="574040">
              <a:lnSpc>
                <a:spcPct val="100000"/>
              </a:lnSpc>
              <a:spcBef>
                <a:spcPts val="107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Conv32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Pool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Conv64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Flatten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3 EarlyStopping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659" y="3784108"/>
            <a:ext cx="8432800" cy="843280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457200" y="3858767"/>
            <a:ext cx="822960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19812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560"/>
              </a:spcBef>
            </a:pPr>
            <a:r>
              <a:rPr dirty="0" sz="1500" spc="-10" b="1">
                <a:solidFill>
                  <a:srgbClr val="0D2E2E"/>
                </a:solidFill>
                <a:latin typeface="Calibri"/>
                <a:cs typeface="Calibri"/>
              </a:rPr>
              <a:t>Evaluation:</a:t>
            </a:r>
            <a:r>
              <a:rPr dirty="0" sz="15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Accuracy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|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Macro</a:t>
            </a:r>
            <a:r>
              <a:rPr dirty="0" sz="15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F1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|</a:t>
            </a:r>
            <a:r>
              <a:rPr dirty="0" sz="1500" spc="29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0D2E2E"/>
                </a:solidFill>
                <a:latin typeface="Calibri"/>
                <a:cs typeface="Calibri"/>
              </a:rPr>
              <a:t>AUC-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ROC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|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MCC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|</a:t>
            </a:r>
            <a:r>
              <a:rPr dirty="0" sz="1500" spc="29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Confusion</a:t>
            </a:r>
            <a:r>
              <a:rPr dirty="0" sz="15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Matrix</a:t>
            </a:r>
            <a:r>
              <a:rPr dirty="0" sz="1500" spc="30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0D2E2E"/>
                </a:solidFill>
                <a:latin typeface="Calibri"/>
                <a:cs typeface="Calibri"/>
              </a:rPr>
              <a:t>(5-</a:t>
            </a:r>
            <a:r>
              <a:rPr dirty="0" sz="1500" b="1">
                <a:solidFill>
                  <a:srgbClr val="0D2E2E"/>
                </a:solidFill>
                <a:latin typeface="Calibri"/>
                <a:cs typeface="Calibri"/>
              </a:rPr>
              <a:t>fold</a:t>
            </a:r>
            <a:r>
              <a:rPr dirty="0" sz="15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D2E2E"/>
                </a:solidFill>
                <a:latin typeface="Calibri"/>
                <a:cs typeface="Calibri"/>
              </a:rPr>
              <a:t>Stratified</a:t>
            </a:r>
            <a:r>
              <a:rPr dirty="0" sz="1500" spc="-2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0D2E2E"/>
                </a:solidFill>
                <a:latin typeface="Calibri"/>
                <a:cs typeface="Calibri"/>
              </a:rPr>
              <a:t>CV)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7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/>
              <a:t>Dataset</a:t>
            </a:r>
            <a:r>
              <a:rPr dirty="0" spc="-120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 spc="-10"/>
              <a:t>Feature</a:t>
            </a:r>
            <a:r>
              <a:rPr dirty="0" spc="-114"/>
              <a:t> </a:t>
            </a:r>
            <a:r>
              <a:rPr dirty="0" spc="-10"/>
              <a:t>Engineering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Simulated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metagenomes</a:t>
            </a:r>
            <a:r>
              <a:rPr dirty="0" sz="1300" spc="-1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+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35" b="0" i="1">
                <a:solidFill>
                  <a:srgbClr val="1A796E"/>
                </a:solidFill>
                <a:latin typeface="Calibri"/>
                <a:cs typeface="Calibri"/>
              </a:rPr>
              <a:t>k-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mer</a:t>
            </a:r>
            <a:r>
              <a:rPr dirty="0" sz="1300" spc="-1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frequency</a:t>
            </a:r>
            <a:r>
              <a:rPr dirty="0" sz="1300" spc="-1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profiles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52437" y="1321117"/>
          <a:ext cx="5114925" cy="171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/>
                <a:gridCol w="731520"/>
                <a:gridCol w="2011680"/>
                <a:gridCol w="1005839"/>
              </a:tblGrid>
              <a:tr h="347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Samples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Dominant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Taxa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Pathogen</a:t>
                      </a:r>
                      <a:r>
                        <a:rPr dirty="0" sz="12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Healthy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51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Lactobacillus,</a:t>
                      </a:r>
                      <a:r>
                        <a:rPr dirty="0"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Bacillus, Pseudomonas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85725" marR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Early-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Deterioratin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Fusarium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5">
                          <a:latin typeface="Arial MT"/>
                          <a:cs typeface="Arial MT"/>
                        </a:rPr>
                        <a:t>↑</a:t>
                      </a:r>
                      <a:r>
                        <a:rPr dirty="0" sz="1200" spc="-305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Bacillus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650">
                          <a:latin typeface="Arial MT"/>
                          <a:cs typeface="Arial MT"/>
                        </a:rPr>
                        <a:t>↓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15–30%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85725" marR="150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Advanced-Deteri orating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664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Fusarium,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Aspergillus, Botrytis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45–65%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2160889" y="3078923"/>
            <a:ext cx="16211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i="1">
                <a:solidFill>
                  <a:srgbClr val="6B7A8D"/>
                </a:solidFill>
                <a:latin typeface="Calibri"/>
                <a:cs typeface="Calibri"/>
              </a:rPr>
              <a:t>Table</a:t>
            </a:r>
            <a:r>
              <a:rPr dirty="0" sz="1000" spc="-35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B7A8D"/>
                </a:solidFill>
                <a:latin typeface="Calibri"/>
                <a:cs typeface="Calibri"/>
              </a:rPr>
              <a:t>3.1:</a:t>
            </a:r>
            <a:r>
              <a:rPr dirty="0" sz="1000" spc="-35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B7A8D"/>
                </a:solidFill>
                <a:latin typeface="Calibri"/>
                <a:cs typeface="Calibri"/>
              </a:rPr>
              <a:t>Dataset</a:t>
            </a:r>
            <a:r>
              <a:rPr dirty="0" sz="10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B7A8D"/>
                </a:solidFill>
                <a:latin typeface="Calibri"/>
                <a:cs typeface="Calibri"/>
              </a:rPr>
              <a:t>Composition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0739" y="1251220"/>
            <a:ext cx="3220720" cy="171196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669279" y="1325880"/>
            <a:ext cx="3017520" cy="150876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1149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1400" spc="-40" b="1">
                <a:solidFill>
                  <a:srgbClr val="C8A951"/>
                </a:solidFill>
                <a:latin typeface="Calibri"/>
                <a:cs typeface="Calibri"/>
              </a:rPr>
              <a:t>k-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mer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Frequency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600" b="1">
                <a:solidFill>
                  <a:srgbClr val="2DBE9E"/>
                </a:solidFill>
                <a:latin typeface="Courier New"/>
                <a:cs typeface="Courier New"/>
              </a:rPr>
              <a:t>f_k(s)</a:t>
            </a:r>
            <a:r>
              <a:rPr dirty="0" sz="1600" spc="-35" b="1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2DBE9E"/>
                </a:solidFill>
                <a:latin typeface="Courier New"/>
                <a:cs typeface="Courier New"/>
              </a:rPr>
              <a:t>=</a:t>
            </a:r>
            <a:r>
              <a:rPr dirty="0" sz="1600" spc="-35" b="1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2DBE9E"/>
                </a:solidFill>
                <a:latin typeface="Courier New"/>
                <a:cs typeface="Courier New"/>
              </a:rPr>
              <a:t>count(k-</a:t>
            </a:r>
            <a:r>
              <a:rPr dirty="0" sz="1600" b="1">
                <a:solidFill>
                  <a:srgbClr val="2DBE9E"/>
                </a:solidFill>
                <a:latin typeface="Courier New"/>
                <a:cs typeface="Courier New"/>
              </a:rPr>
              <a:t>mer</a:t>
            </a:r>
            <a:r>
              <a:rPr dirty="0" sz="1600" spc="-35" b="1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2DBE9E"/>
                </a:solidFill>
                <a:latin typeface="Courier New"/>
                <a:cs typeface="Courier New"/>
              </a:rPr>
              <a:t>s)</a:t>
            </a:r>
            <a:endParaRPr sz="16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1600" b="1">
                <a:solidFill>
                  <a:srgbClr val="2DBE9E"/>
                </a:solidFill>
                <a:latin typeface="Courier New"/>
                <a:cs typeface="Courier New"/>
              </a:rPr>
              <a:t>/</a:t>
            </a:r>
            <a:r>
              <a:rPr dirty="0" sz="1600" spc="-15" b="1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600" spc="-50" b="1">
                <a:solidFill>
                  <a:srgbClr val="2DBE9E"/>
                </a:solidFill>
                <a:latin typeface="Courier New"/>
                <a:cs typeface="Courier New"/>
              </a:rPr>
              <a:t>N</a:t>
            </a:r>
            <a:endParaRPr sz="1600">
              <a:latin typeface="Courier New"/>
              <a:cs typeface="Courier New"/>
            </a:endParaRPr>
          </a:p>
          <a:p>
            <a:pPr algn="ctr" marL="48895">
              <a:lnSpc>
                <a:spcPct val="100000"/>
              </a:lnSpc>
              <a:spcBef>
                <a:spcPts val="135"/>
              </a:spcBef>
            </a:pPr>
            <a:r>
              <a:rPr dirty="0" sz="1300" spc="-10">
                <a:solidFill>
                  <a:srgbClr val="D9E7E6"/>
                </a:solidFill>
                <a:latin typeface="Courier New"/>
                <a:cs typeface="Courier New"/>
              </a:rPr>
              <a:t>TF-</a:t>
            </a:r>
            <a:r>
              <a:rPr dirty="0" sz="1300">
                <a:solidFill>
                  <a:srgbClr val="D9E7E6"/>
                </a:solidFill>
                <a:latin typeface="Courier New"/>
                <a:cs typeface="Courier New"/>
              </a:rPr>
              <a:t>IDF(k,d)</a:t>
            </a:r>
            <a:r>
              <a:rPr dirty="0" sz="1300" spc="-15">
                <a:solidFill>
                  <a:srgbClr val="D9E7E6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D9E7E6"/>
                </a:solidFill>
                <a:latin typeface="Courier New"/>
                <a:cs typeface="Courier New"/>
              </a:rPr>
              <a:t>=</a:t>
            </a:r>
            <a:r>
              <a:rPr dirty="0" sz="1300" spc="-15">
                <a:solidFill>
                  <a:srgbClr val="D9E7E6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D9E7E6"/>
                </a:solidFill>
                <a:latin typeface="Courier New"/>
                <a:cs typeface="Courier New"/>
              </a:rPr>
              <a:t>TF</a:t>
            </a:r>
            <a:r>
              <a:rPr dirty="0" sz="1300" spc="-15">
                <a:solidFill>
                  <a:srgbClr val="D9E7E6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D9E7E6"/>
                </a:solidFill>
                <a:latin typeface="Courier New"/>
                <a:cs typeface="Courier New"/>
              </a:rPr>
              <a:t>×</a:t>
            </a:r>
            <a:r>
              <a:rPr dirty="0" sz="1300" spc="-15">
                <a:solidFill>
                  <a:srgbClr val="D9E7E6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D9E7E6"/>
                </a:solidFill>
                <a:latin typeface="Courier New"/>
                <a:cs typeface="Courier New"/>
              </a:rPr>
              <a:t>log(D</a:t>
            </a:r>
            <a:r>
              <a:rPr dirty="0" sz="1300" spc="-10">
                <a:solidFill>
                  <a:srgbClr val="D9E7E6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solidFill>
                  <a:srgbClr val="D9E7E6"/>
                </a:solidFill>
                <a:latin typeface="Courier New"/>
                <a:cs typeface="Courier New"/>
              </a:rPr>
              <a:t>/</a:t>
            </a:r>
            <a:endParaRPr sz="1300">
              <a:latin typeface="Courier New"/>
              <a:cs typeface="Courier New"/>
            </a:endParaRPr>
          </a:p>
          <a:p>
            <a:pPr algn="ctr" marL="10795">
              <a:lnSpc>
                <a:spcPct val="100000"/>
              </a:lnSpc>
            </a:pPr>
            <a:r>
              <a:rPr dirty="0" sz="1300" spc="-10">
                <a:solidFill>
                  <a:srgbClr val="D9E7E6"/>
                </a:solidFill>
                <a:latin typeface="Courier New"/>
                <a:cs typeface="Courier New"/>
              </a:rPr>
              <a:t>df(k))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659" y="3171460"/>
            <a:ext cx="2123440" cy="95300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57200" y="3246120"/>
            <a:ext cx="1920239" cy="749935"/>
          </a:xfrm>
          <a:prstGeom prst="rect">
            <a:avLst/>
          </a:prstGeom>
          <a:solidFill>
            <a:srgbClr val="0D2E2E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800" spc="-25" b="1">
                <a:solidFill>
                  <a:srgbClr val="C8A951"/>
                </a:solidFill>
                <a:latin typeface="Calibri"/>
                <a:cs typeface="Calibri"/>
              </a:rPr>
              <a:t>k=6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491" y="3171460"/>
            <a:ext cx="2123440" cy="95300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542032" y="3246120"/>
            <a:ext cx="1920239" cy="749935"/>
          </a:xfrm>
          <a:prstGeom prst="rect">
            <a:avLst/>
          </a:prstGeom>
          <a:solidFill>
            <a:srgbClr val="1A796E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800" spc="-25" b="1">
                <a:solidFill>
                  <a:srgbClr val="C8A951"/>
                </a:solidFill>
                <a:latin typeface="Calibri"/>
                <a:cs typeface="Calibri"/>
              </a:rPr>
              <a:t>k=7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16,384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8323" y="3171460"/>
            <a:ext cx="2123440" cy="95300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626864" y="3246120"/>
            <a:ext cx="1920239" cy="749935"/>
          </a:xfrm>
          <a:prstGeom prst="rect">
            <a:avLst/>
          </a:prstGeom>
          <a:solidFill>
            <a:srgbClr val="145757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800" spc="-25" b="1">
                <a:solidFill>
                  <a:srgbClr val="C8A951"/>
                </a:solidFill>
                <a:latin typeface="Calibri"/>
                <a:cs typeface="Calibri"/>
              </a:rPr>
              <a:t>k=8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65,536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155" y="3171460"/>
            <a:ext cx="2123440" cy="953008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711695" y="3246120"/>
            <a:ext cx="1920239" cy="749935"/>
          </a:xfrm>
          <a:prstGeom prst="rect">
            <a:avLst/>
          </a:prstGeom>
          <a:solidFill>
            <a:srgbClr val="E79439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800" spc="-10" b="1">
                <a:solidFill>
                  <a:srgbClr val="C8A951"/>
                </a:solidFill>
                <a:latin typeface="Calibri"/>
                <a:cs typeface="Calibri"/>
              </a:rPr>
              <a:t>SMOTE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balance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fix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8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399513" y="4149852"/>
            <a:ext cx="43446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6B7A8D"/>
                </a:solidFill>
                <a:latin typeface="Arial"/>
                <a:cs typeface="Arial"/>
              </a:rPr>
              <a:t>↑</a:t>
            </a:r>
            <a:r>
              <a:rPr dirty="0" sz="1100" spc="-75" i="1">
                <a:solidFill>
                  <a:srgbClr val="6B7A8D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Insert</a:t>
            </a:r>
            <a:r>
              <a:rPr dirty="0" sz="1100" spc="-4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Figure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3.2</a:t>
            </a:r>
            <a:r>
              <a:rPr dirty="0" sz="1100" spc="-25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here: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spc="-35" i="1">
                <a:solidFill>
                  <a:srgbClr val="6B7A8D"/>
                </a:solidFill>
                <a:latin typeface="Calibri"/>
                <a:cs typeface="Calibri"/>
              </a:rPr>
              <a:t>k-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mer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frequency</a:t>
            </a:r>
            <a:r>
              <a:rPr dirty="0" sz="1100" spc="-25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heatmap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(Healthy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A8D"/>
                </a:solidFill>
                <a:latin typeface="Calibri"/>
                <a:cs typeface="Calibri"/>
              </a:rPr>
              <a:t>vs</a:t>
            </a:r>
            <a:r>
              <a:rPr dirty="0" sz="1100" spc="-30" i="1">
                <a:solidFill>
                  <a:srgbClr val="6B7A8D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6B7A8D"/>
                </a:solidFill>
                <a:latin typeface="Calibri"/>
                <a:cs typeface="Calibri"/>
              </a:rPr>
              <a:t>Deteriorating)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/>
              <a:t>Model</a:t>
            </a:r>
            <a:r>
              <a:rPr dirty="0" spc="-120"/>
              <a:t> </a:t>
            </a:r>
            <a:r>
              <a:rPr dirty="0" spc="-10"/>
              <a:t>Architectures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Three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complementary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approaches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on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the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same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feature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space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659" y="1223788"/>
              <a:ext cx="2763520" cy="34493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57200" y="1298447"/>
            <a:ext cx="2560320" cy="324612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78105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615"/>
              </a:spcBef>
            </a:pP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Random</a:t>
            </a:r>
            <a:r>
              <a:rPr dirty="0" sz="1400" spc="-3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Forest</a:t>
            </a:r>
            <a:endParaRPr sz="1400">
              <a:latin typeface="Calibri"/>
              <a:cs typeface="Calibri"/>
            </a:endParaRPr>
          </a:p>
          <a:p>
            <a:pPr marL="139065" marR="713105">
              <a:lnSpc>
                <a:spcPct val="123800"/>
              </a:lnSpc>
              <a:spcBef>
                <a:spcPts val="7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trees,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Gini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criterion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sqrt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subsets Balanced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weight Native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feature importance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ranking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sparse</a:t>
            </a:r>
            <a:endParaRPr sz="14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400"/>
              </a:spcBef>
            </a:pP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high-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dim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163299" y="1223788"/>
            <a:ext cx="2763520" cy="3449320"/>
            <a:chOff x="3163299" y="1223788"/>
            <a:chExt cx="2763520" cy="344932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3299" y="1223788"/>
              <a:ext cx="2763520" cy="344932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291839" y="1298448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2560319" y="3246119"/>
                  </a:moveTo>
                  <a:lnTo>
                    <a:pt x="0" y="3246119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246119"/>
                  </a:lnTo>
                  <a:close/>
                </a:path>
              </a:pathLst>
            </a:custGeom>
            <a:solidFill>
              <a:srgbClr val="1A7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150449" y="1363979"/>
            <a:ext cx="8432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ANN</a:t>
            </a:r>
            <a:r>
              <a:rPr dirty="0" sz="1400" spc="-4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(MLP)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3429000" y="1737360"/>
          <a:ext cx="2362200" cy="2503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8390"/>
                <a:gridCol w="109855"/>
                <a:gridCol w="1088390"/>
              </a:tblGrid>
              <a:tr h="530225">
                <a:tc gridSpan="3">
                  <a:txBody>
                    <a:bodyPr/>
                    <a:lstStyle/>
                    <a:p>
                      <a:pPr algn="ctr" marL="969010" marR="962025" indent="-6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 4,096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4575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8A9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</a:tr>
              <a:tr h="534670">
                <a:tc gridSpan="3">
                  <a:txBody>
                    <a:bodyPr/>
                    <a:lstStyle/>
                    <a:p>
                      <a:pPr marL="647065" marR="640080" indent="1695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128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ReLU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0.3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14575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8A9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</a:tr>
              <a:tr h="534670">
                <a:tc gridSpan="3">
                  <a:txBody>
                    <a:bodyPr/>
                    <a:lstStyle/>
                    <a:p>
                      <a:pPr marL="647065" marR="640080" indent="208279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64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ReLU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0.2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14575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8A9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</a:tr>
              <a:tr h="534670">
                <a:tc gridSpan="3">
                  <a:txBody>
                    <a:bodyPr/>
                    <a:lstStyle/>
                    <a:p>
                      <a:pPr algn="ctr" marL="865505" marR="858519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Softmax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14575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7939" y="1223788"/>
            <a:ext cx="2763520" cy="344932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126479" y="1298447"/>
            <a:ext cx="2560320" cy="324612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400" spc="-20" b="1">
                <a:solidFill>
                  <a:srgbClr val="C8A951"/>
                </a:solidFill>
                <a:latin typeface="Calibri"/>
                <a:cs typeface="Calibri"/>
              </a:rPr>
              <a:t>1D-</a:t>
            </a:r>
            <a:r>
              <a:rPr dirty="0" sz="1400" spc="-25" b="1">
                <a:solidFill>
                  <a:srgbClr val="C8A951"/>
                </a:solidFill>
                <a:latin typeface="Calibri"/>
                <a:cs typeface="Calibri"/>
              </a:rPr>
              <a:t>CNN</a:t>
            </a:r>
            <a:endParaRPr sz="1400">
              <a:latin typeface="Calibri"/>
              <a:cs typeface="Calibri"/>
            </a:endParaRPr>
          </a:p>
          <a:p>
            <a:pPr marL="139065" marR="1220470">
              <a:lnSpc>
                <a:spcPct val="119200"/>
              </a:lnSpc>
              <a:spcBef>
                <a:spcPts val="894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13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3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(4096,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1)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reshape</a:t>
            </a:r>
            <a:endParaRPr sz="1300">
              <a:latin typeface="Calibri"/>
              <a:cs typeface="Calibri"/>
            </a:endParaRPr>
          </a:p>
          <a:p>
            <a:pPr marL="139065" marR="567690">
              <a:lnSpc>
                <a:spcPct val="119200"/>
              </a:lnSpc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Conv1D(32,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k=3)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MaxPool Conv1D(64,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k=3)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MaxPool Flatten</a:t>
            </a:r>
            <a:r>
              <a:rPr dirty="0" sz="13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3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Dense(64)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13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Softmax(3) EarlyStopping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callback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9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pc="-10"/>
              <a:t>Implementation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Python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pipeline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—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built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to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run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on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i5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/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8GB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RAM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217438"/>
              <a:ext cx="5336540" cy="355346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57200" y="1298447"/>
            <a:ext cx="5120640" cy="3337560"/>
          </a:xfrm>
          <a:prstGeom prst="rect">
            <a:avLst/>
          </a:prstGeom>
          <a:solidFill>
            <a:srgbClr val="1E1E2E"/>
          </a:solidFill>
          <a:ln w="12699">
            <a:solidFill>
              <a:srgbClr val="145757"/>
            </a:solidFill>
          </a:ln>
        </p:spPr>
        <p:txBody>
          <a:bodyPr wrap="square" lIns="0" tIns="1289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15"/>
              </a:spcBef>
            </a:pPr>
            <a:r>
              <a:rPr dirty="0" sz="1000">
                <a:solidFill>
                  <a:srgbClr val="6A9955"/>
                </a:solidFill>
                <a:latin typeface="Courier New"/>
                <a:cs typeface="Courier New"/>
              </a:rPr>
              <a:t>#</a:t>
            </a:r>
            <a:r>
              <a:rPr dirty="0" sz="1000" spc="-30">
                <a:solidFill>
                  <a:srgbClr val="6A9955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6A9955"/>
                </a:solidFill>
                <a:latin typeface="Courier New"/>
                <a:cs typeface="Courier New"/>
              </a:rPr>
              <a:t>Simplified</a:t>
            </a:r>
            <a:r>
              <a:rPr dirty="0" sz="1000" spc="-25">
                <a:solidFill>
                  <a:srgbClr val="6A9955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6A9955"/>
                </a:solidFill>
                <a:latin typeface="Courier New"/>
                <a:cs typeface="Courier New"/>
              </a:rPr>
              <a:t>RF</a:t>
            </a:r>
            <a:r>
              <a:rPr dirty="0" sz="1000" spc="-25">
                <a:solidFill>
                  <a:srgbClr val="6A9955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6A9955"/>
                </a:solidFill>
                <a:latin typeface="Courier New"/>
                <a:cs typeface="Courier New"/>
              </a:rPr>
              <a:t>training</a:t>
            </a:r>
            <a:r>
              <a:rPr dirty="0" sz="1000" spc="-25">
                <a:solidFill>
                  <a:srgbClr val="6A9955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6A9955"/>
                </a:solidFill>
                <a:latin typeface="Courier New"/>
                <a:cs typeface="Courier New"/>
              </a:rPr>
              <a:t>snippet</a:t>
            </a:r>
            <a:endParaRPr sz="1000">
              <a:latin typeface="Courier New"/>
              <a:cs typeface="Courier New"/>
            </a:endParaRPr>
          </a:p>
          <a:p>
            <a:pPr marL="109220">
              <a:lnSpc>
                <a:spcPct val="100000"/>
              </a:lnSpc>
              <a:spcBef>
                <a:spcPts val="625"/>
              </a:spcBef>
            </a:pP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X_tr,</a:t>
            </a:r>
            <a:r>
              <a:rPr dirty="0" sz="1000" spc="-2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X_te,</a:t>
            </a:r>
            <a:r>
              <a:rPr dirty="0" sz="1000" spc="-2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y_tr,</a:t>
            </a:r>
            <a:r>
              <a:rPr dirty="0" sz="1000" spc="-2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y_te</a:t>
            </a:r>
            <a:r>
              <a:rPr dirty="0" sz="1000" spc="-2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=</a:t>
            </a:r>
            <a:r>
              <a:rPr dirty="0" sz="1000" spc="-2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D4D4D4"/>
                </a:solidFill>
                <a:latin typeface="Courier New"/>
                <a:cs typeface="Courier New"/>
              </a:rPr>
              <a:t>train_test_split(</a:t>
            </a:r>
            <a:endParaRPr sz="1000">
              <a:latin typeface="Courier New"/>
              <a:cs typeface="Courier New"/>
            </a:endParaRPr>
          </a:p>
          <a:p>
            <a:pPr marL="109220" marR="1574165" indent="152400">
              <a:lnSpc>
                <a:spcPct val="192000"/>
              </a:lnSpc>
            </a:pP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X_tfidf,</a:t>
            </a:r>
            <a:r>
              <a:rPr dirty="0" sz="1000" spc="-4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y,</a:t>
            </a:r>
            <a:r>
              <a:rPr dirty="0" sz="1000" spc="-4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4D4D4"/>
                </a:solidFill>
                <a:latin typeface="Courier New"/>
                <a:cs typeface="Courier New"/>
              </a:rPr>
              <a:t>test_size=0.2,</a:t>
            </a:r>
            <a:r>
              <a:rPr dirty="0" sz="1000" spc="-40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D4D4D4"/>
                </a:solidFill>
                <a:latin typeface="Courier New"/>
                <a:cs typeface="Courier New"/>
              </a:rPr>
              <a:t>stratify=y) </a:t>
            </a:r>
            <a:r>
              <a:rPr dirty="0" sz="1000">
                <a:solidFill>
                  <a:srgbClr val="9BDCFD"/>
                </a:solidFill>
                <a:latin typeface="Courier New"/>
                <a:cs typeface="Courier New"/>
              </a:rPr>
              <a:t>X_tr,</a:t>
            </a:r>
            <a:r>
              <a:rPr dirty="0" sz="1000" spc="-45">
                <a:solidFill>
                  <a:srgbClr val="9BDCFD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9BDCFD"/>
                </a:solidFill>
                <a:latin typeface="Courier New"/>
                <a:cs typeface="Courier New"/>
              </a:rPr>
              <a:t>y_tr</a:t>
            </a:r>
            <a:r>
              <a:rPr dirty="0" sz="1000" spc="-45">
                <a:solidFill>
                  <a:srgbClr val="9BDCFD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9BDCFD"/>
                </a:solidFill>
                <a:latin typeface="Courier New"/>
                <a:cs typeface="Courier New"/>
              </a:rPr>
              <a:t>=</a:t>
            </a:r>
            <a:r>
              <a:rPr dirty="0" sz="1000" spc="-45">
                <a:solidFill>
                  <a:srgbClr val="9BDCFD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9BDCFD"/>
                </a:solidFill>
                <a:latin typeface="Courier New"/>
                <a:cs typeface="Courier New"/>
              </a:rPr>
              <a:t>SMOTE().fit_resample(X_tr,</a:t>
            </a:r>
            <a:r>
              <a:rPr dirty="0" sz="1000" spc="-45">
                <a:solidFill>
                  <a:srgbClr val="9BDCFD"/>
                </a:solidFill>
                <a:latin typeface="Courier New"/>
                <a:cs typeface="Courier New"/>
              </a:rPr>
              <a:t> </a:t>
            </a:r>
            <a:r>
              <a:rPr dirty="0" sz="1000" spc="-20">
                <a:solidFill>
                  <a:srgbClr val="9BDCFD"/>
                </a:solidFill>
                <a:latin typeface="Courier New"/>
                <a:cs typeface="Courier New"/>
              </a:rPr>
              <a:t>y_tr)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Courier New"/>
              <a:cs typeface="Courier New"/>
            </a:endParaRPr>
          </a:p>
          <a:p>
            <a:pPr marL="261620" marR="2183765" indent="-152400">
              <a:lnSpc>
                <a:spcPct val="192000"/>
              </a:lnSpc>
            </a:pPr>
            <a:r>
              <a:rPr dirty="0" sz="1000">
                <a:solidFill>
                  <a:srgbClr val="DCDCAA"/>
                </a:solidFill>
                <a:latin typeface="Courier New"/>
                <a:cs typeface="Courier New"/>
              </a:rPr>
              <a:t>rf</a:t>
            </a:r>
            <a:r>
              <a:rPr dirty="0" sz="1000" spc="-10">
                <a:solidFill>
                  <a:srgbClr val="DCDCAA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DCDCAA"/>
                </a:solidFill>
                <a:latin typeface="Courier New"/>
                <a:cs typeface="Courier New"/>
              </a:rPr>
              <a:t>=</a:t>
            </a:r>
            <a:r>
              <a:rPr dirty="0" sz="1000" spc="-5">
                <a:solidFill>
                  <a:srgbClr val="DCDCAA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DCDCAA"/>
                </a:solidFill>
                <a:latin typeface="Courier New"/>
                <a:cs typeface="Courier New"/>
              </a:rPr>
              <a:t>RandomForestClassifier( </a:t>
            </a:r>
            <a:r>
              <a:rPr dirty="0" sz="1000">
                <a:solidFill>
                  <a:srgbClr val="CE9178"/>
                </a:solidFill>
                <a:latin typeface="Courier New"/>
                <a:cs typeface="Courier New"/>
              </a:rPr>
              <a:t>n_estimators=100,</a:t>
            </a:r>
            <a:r>
              <a:rPr dirty="0" sz="1000" spc="-85">
                <a:solidFill>
                  <a:srgbClr val="CE9178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CE9178"/>
                </a:solidFill>
                <a:latin typeface="Courier New"/>
                <a:cs typeface="Courier New"/>
              </a:rPr>
              <a:t>criterion='gini', class_weight='balanced')</a:t>
            </a:r>
            <a:endParaRPr sz="1000">
              <a:latin typeface="Courier New"/>
              <a:cs typeface="Courier New"/>
            </a:endParaRPr>
          </a:p>
          <a:p>
            <a:pPr marL="109220">
              <a:lnSpc>
                <a:spcPct val="100000"/>
              </a:lnSpc>
              <a:spcBef>
                <a:spcPts val="1105"/>
              </a:spcBef>
            </a:pPr>
            <a:r>
              <a:rPr dirty="0" sz="1000">
                <a:solidFill>
                  <a:srgbClr val="9BDCFD"/>
                </a:solidFill>
                <a:latin typeface="Courier New"/>
                <a:cs typeface="Courier New"/>
              </a:rPr>
              <a:t>rf.fit(X_tr,</a:t>
            </a:r>
            <a:r>
              <a:rPr dirty="0" sz="1000" spc="-60">
                <a:solidFill>
                  <a:srgbClr val="9BDCFD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9BDCFD"/>
                </a:solidFill>
                <a:latin typeface="Courier New"/>
                <a:cs typeface="Courier New"/>
              </a:rPr>
              <a:t>y_tr)</a:t>
            </a:r>
            <a:endParaRPr sz="1000">
              <a:latin typeface="Courier New"/>
              <a:cs typeface="Courier New"/>
            </a:endParaRPr>
          </a:p>
          <a:p>
            <a:pPr marL="109220">
              <a:lnSpc>
                <a:spcPct val="100000"/>
              </a:lnSpc>
              <a:spcBef>
                <a:spcPts val="1105"/>
              </a:spcBef>
            </a:pPr>
            <a:r>
              <a:rPr dirty="0" sz="1000" spc="-10">
                <a:solidFill>
                  <a:srgbClr val="4EC9B0"/>
                </a:solidFill>
                <a:latin typeface="Courier New"/>
                <a:cs typeface="Courier New"/>
              </a:rPr>
              <a:t>print(classification_report(y_te,</a:t>
            </a:r>
            <a:r>
              <a:rPr dirty="0" sz="1000" spc="155">
                <a:solidFill>
                  <a:srgbClr val="4EC9B0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4EC9B0"/>
                </a:solidFill>
                <a:latin typeface="Courier New"/>
                <a:cs typeface="Courier New"/>
              </a:rPr>
              <a:t>rf.predict(X_te)))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7664" y="1347723"/>
            <a:ext cx="897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0D2E2E"/>
                </a:solidFill>
                <a:latin typeface="Calibri"/>
                <a:cs typeface="Calibri"/>
              </a:rPr>
              <a:t>Tech </a:t>
            </a:r>
            <a:r>
              <a:rPr dirty="0" sz="1600" spc="-10" b="1">
                <a:solidFill>
                  <a:srgbClr val="0D2E2E"/>
                </a:solidFill>
                <a:latin typeface="Calibri"/>
                <a:cs typeface="Calibri"/>
              </a:rPr>
              <a:t>Stack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7899" y="1662700"/>
            <a:ext cx="3083560" cy="70611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806440" y="1737360"/>
            <a:ext cx="2880360" cy="50292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78105" rIns="0" bIns="0" rtlCol="0" vert="horz">
            <a:spAutoFit/>
          </a:bodyPr>
          <a:lstStyle/>
          <a:p>
            <a:pPr marL="139700" marR="1898650">
              <a:lnSpc>
                <a:spcPct val="100000"/>
              </a:lnSpc>
              <a:spcBef>
                <a:spcPts val="61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scikit-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1.3 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RF,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metrics,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CV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7899" y="2257060"/>
            <a:ext cx="3083560" cy="70611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806440" y="2331720"/>
            <a:ext cx="2880360" cy="50292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78105" rIns="0" bIns="0" rtlCol="0" vert="horz">
            <a:spAutoFit/>
          </a:bodyPr>
          <a:lstStyle/>
          <a:p>
            <a:pPr marL="139700" marR="1809114">
              <a:lnSpc>
                <a:spcPct val="100000"/>
              </a:lnSpc>
              <a:spcBef>
                <a:spcPts val="615"/>
              </a:spcBef>
            </a:pP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TensorFlow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2.13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ANN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1D-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7899" y="2851420"/>
            <a:ext cx="3083560" cy="70611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806440" y="2926079"/>
            <a:ext cx="2880360" cy="50292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7810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61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Biopython</a:t>
            </a:r>
            <a:endParaRPr sz="11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simulation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7899" y="3445780"/>
            <a:ext cx="3083560" cy="70611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806440" y="3520440"/>
            <a:ext cx="2880360" cy="50292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78105" rIns="0" bIns="0" rtlCol="0" vert="horz">
            <a:spAutoFit/>
          </a:bodyPr>
          <a:lstStyle/>
          <a:p>
            <a:pPr marL="139700" marR="1741170">
              <a:lnSpc>
                <a:spcPct val="100000"/>
              </a:lnSpc>
              <a:spcBef>
                <a:spcPts val="61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imbalanced-learn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SMOTE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7899" y="4040140"/>
            <a:ext cx="3083560" cy="70611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806440" y="4114800"/>
            <a:ext cx="2880360" cy="50292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78105" rIns="0" bIns="0" rtlCol="0" vert="horz">
            <a:spAutoFit/>
          </a:bodyPr>
          <a:lstStyle/>
          <a:p>
            <a:pPr marL="139700" marR="1949450">
              <a:lnSpc>
                <a:spcPct val="100000"/>
              </a:lnSpc>
              <a:spcBef>
                <a:spcPts val="61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Jupyter</a:t>
            </a:r>
            <a:r>
              <a:rPr dirty="0" sz="1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7.0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IDE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10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143255"/>
            <a:ext cx="82550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1665" algn="l"/>
              </a:tabLst>
            </a:pP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Results</a:t>
            </a:r>
            <a:r>
              <a:rPr dirty="0" u="heavy" sz="3200" spc="-5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—</a:t>
            </a:r>
            <a:r>
              <a:rPr dirty="0" u="heavy" sz="3200" spc="-5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Random</a:t>
            </a:r>
            <a:r>
              <a:rPr dirty="0" u="heavy" sz="3200" spc="-45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Forest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	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741172"/>
            <a:ext cx="42437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Best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2DBE9E"/>
                </a:solidFill>
                <a:latin typeface="Calibri"/>
                <a:cs typeface="Calibri"/>
              </a:rPr>
              <a:t>performing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model</a:t>
            </a:r>
            <a:r>
              <a:rPr dirty="0" sz="1300" spc="-20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—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handles</a:t>
            </a:r>
            <a:r>
              <a:rPr dirty="0" sz="1300" spc="-20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sparse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spc="-35" i="1">
                <a:solidFill>
                  <a:srgbClr val="2DBE9E"/>
                </a:solidFill>
                <a:latin typeface="Calibri"/>
                <a:cs typeface="Calibri"/>
              </a:rPr>
              <a:t>k-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mer</a:t>
            </a:r>
            <a:r>
              <a:rPr dirty="0" sz="1300" spc="-20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2DBE9E"/>
                </a:solidFill>
                <a:latin typeface="Calibri"/>
                <a:cs typeface="Calibri"/>
              </a:rPr>
              <a:t>space</a:t>
            </a:r>
            <a:r>
              <a:rPr dirty="0" sz="1300" spc="-25" i="1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2DBE9E"/>
                </a:solidFill>
                <a:latin typeface="Calibri"/>
                <a:cs typeface="Calibri"/>
              </a:rPr>
              <a:t>naturally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59" y="1040908"/>
            <a:ext cx="2123440" cy="1117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57200" y="1115567"/>
            <a:ext cx="1920239" cy="914400"/>
          </a:xfrm>
          <a:prstGeom prst="rect">
            <a:avLst/>
          </a:prstGeom>
          <a:solidFill>
            <a:srgbClr val="1A6B3E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2800" spc="-25" b="1">
                <a:solidFill>
                  <a:srgbClr val="C8A951"/>
                </a:solidFill>
                <a:latin typeface="Calibri"/>
                <a:cs typeface="Calibri"/>
              </a:rPr>
              <a:t>92%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1779" y="1040908"/>
            <a:ext cx="2123440" cy="11176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60320" y="1115567"/>
            <a:ext cx="1920239" cy="91440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2800" spc="-20" b="1">
                <a:solidFill>
                  <a:srgbClr val="C8A951"/>
                </a:solidFill>
                <a:latin typeface="Calibri"/>
                <a:cs typeface="Calibri"/>
              </a:rPr>
              <a:t>0.91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Macro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4899" y="1040908"/>
            <a:ext cx="2123440" cy="11176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663440" y="1115567"/>
            <a:ext cx="1920239" cy="91440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2800" spc="-20" b="1">
                <a:solidFill>
                  <a:srgbClr val="C8A951"/>
                </a:solidFill>
                <a:latin typeface="Calibri"/>
                <a:cs typeface="Calibri"/>
              </a:rPr>
              <a:t>0.95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AUC-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ROC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019" y="1040908"/>
            <a:ext cx="2123440" cy="11176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766559" y="1115567"/>
            <a:ext cx="1920239" cy="914400"/>
          </a:xfrm>
          <a:prstGeom prst="rect">
            <a:avLst/>
          </a:prstGeom>
          <a:solidFill>
            <a:srgbClr val="E79439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2800" spc="-20" b="1">
                <a:solidFill>
                  <a:srgbClr val="C8A951"/>
                </a:solidFill>
                <a:latin typeface="Calibri"/>
                <a:cs typeface="Calibri"/>
              </a:rPr>
              <a:t>0.88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MCC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11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44500" y="2204212"/>
            <a:ext cx="23736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Confusion</a:t>
            </a:r>
            <a:r>
              <a:rPr dirty="0" sz="1300" spc="-4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Matrix</a:t>
            </a:r>
            <a:r>
              <a:rPr dirty="0" sz="1300" spc="-3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C8A951"/>
                </a:solidFill>
                <a:latin typeface="Calibri"/>
                <a:cs typeface="Calibri"/>
              </a:rPr>
              <a:t>(Test</a:t>
            </a:r>
            <a:r>
              <a:rPr dirty="0" sz="1300" spc="-3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Set,</a:t>
            </a:r>
            <a:r>
              <a:rPr dirty="0" sz="1300" spc="-4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n=200)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452437" y="2482405"/>
          <a:ext cx="42926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1005840"/>
                <a:gridCol w="1005839"/>
                <a:gridCol w="1005839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2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Pred: Healthy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Pred:</a:t>
                      </a:r>
                      <a:r>
                        <a:rPr dirty="0" sz="13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74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Pred: Advanced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Act:</a:t>
                      </a:r>
                      <a:r>
                        <a:rPr dirty="0" sz="13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Healthy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95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A5C3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Act:</a:t>
                      </a:r>
                      <a:r>
                        <a:rPr dirty="0" sz="13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44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A5C3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Act:</a:t>
                      </a:r>
                      <a:r>
                        <a:rPr dirty="0" sz="13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Advanced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46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A5C3E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4846320" y="2176272"/>
            <a:ext cx="3840479" cy="2331720"/>
          </a:xfrm>
          <a:prstGeom prst="rect">
            <a:avLst/>
          </a:prstGeom>
          <a:solidFill>
            <a:srgbClr val="145757">
              <a:alpha val="70195"/>
            </a:srgbClr>
          </a:solidFill>
          <a:ln w="12699">
            <a:solidFill>
              <a:srgbClr val="1A796E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200" i="1">
                <a:solidFill>
                  <a:srgbClr val="C8A951"/>
                </a:solidFill>
                <a:latin typeface="Calibri"/>
                <a:cs typeface="Calibri"/>
              </a:rPr>
              <a:t>Insert</a:t>
            </a:r>
            <a:r>
              <a:rPr dirty="0" sz="1200" spc="-35" i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C8A951"/>
                </a:solidFill>
                <a:latin typeface="Calibri"/>
                <a:cs typeface="Calibri"/>
              </a:rPr>
              <a:t>Figure</a:t>
            </a:r>
            <a:r>
              <a:rPr dirty="0" sz="1200" spc="-30" i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C8A951"/>
                </a:solidFill>
                <a:latin typeface="Calibri"/>
                <a:cs typeface="Calibri"/>
              </a:rPr>
              <a:t>4.1</a:t>
            </a:r>
            <a:r>
              <a:rPr dirty="0" sz="1200" spc="-30" i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200" spc="-20" i="1">
                <a:solidFill>
                  <a:srgbClr val="C8A951"/>
                </a:solidFill>
                <a:latin typeface="Calibri"/>
                <a:cs typeface="Calibri"/>
              </a:rPr>
              <a:t>here</a:t>
            </a:r>
            <a:endParaRPr sz="1200">
              <a:latin typeface="Calibri"/>
              <a:cs typeface="Calibri"/>
            </a:endParaRPr>
          </a:p>
          <a:p>
            <a:pPr algn="ctr" marL="963294" marR="957580" indent="635">
              <a:lnSpc>
                <a:spcPct val="100000"/>
              </a:lnSpc>
              <a:spcBef>
                <a:spcPts val="1080"/>
              </a:spcBef>
            </a:pPr>
            <a:r>
              <a:rPr dirty="0" sz="1200" spc="-40">
                <a:solidFill>
                  <a:srgbClr val="D9E7E6"/>
                </a:solidFill>
                <a:latin typeface="Calibri"/>
                <a:cs typeface="Calibri"/>
              </a:rPr>
              <a:t>Top</a:t>
            </a:r>
            <a:r>
              <a:rPr dirty="0" sz="12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9E7E6"/>
                </a:solidFill>
                <a:latin typeface="Calibri"/>
                <a:cs typeface="Calibri"/>
              </a:rPr>
              <a:t>20</a:t>
            </a:r>
            <a:r>
              <a:rPr dirty="0" sz="1200" spc="-2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9E7E6"/>
                </a:solidFill>
                <a:latin typeface="Calibri"/>
                <a:cs typeface="Calibri"/>
              </a:rPr>
              <a:t>discriminative</a:t>
            </a:r>
            <a:r>
              <a:rPr dirty="0" sz="12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D9E7E6"/>
                </a:solidFill>
                <a:latin typeface="Calibri"/>
                <a:cs typeface="Calibri"/>
              </a:rPr>
              <a:t>k-</a:t>
            </a:r>
            <a:r>
              <a:rPr dirty="0" sz="1200" spc="-20">
                <a:solidFill>
                  <a:srgbClr val="D9E7E6"/>
                </a:solidFill>
                <a:latin typeface="Calibri"/>
                <a:cs typeface="Calibri"/>
              </a:rPr>
              <a:t>mers </a:t>
            </a:r>
            <a:r>
              <a:rPr dirty="0" sz="1200" spc="-10">
                <a:solidFill>
                  <a:srgbClr val="D9E7E6"/>
                </a:solidFill>
                <a:latin typeface="Calibri"/>
                <a:cs typeface="Calibri"/>
              </a:rPr>
              <a:t>(Feature Importance</a:t>
            </a:r>
            <a:r>
              <a:rPr dirty="0" sz="1200" spc="-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9E7E6"/>
                </a:solidFill>
                <a:latin typeface="Calibri"/>
                <a:cs typeface="Calibri"/>
              </a:rPr>
              <a:t>bar</a:t>
            </a:r>
            <a:r>
              <a:rPr dirty="0" sz="1200" spc="-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9E7E6"/>
                </a:solidFill>
                <a:latin typeface="Calibri"/>
                <a:cs typeface="Calibri"/>
              </a:rPr>
              <a:t>chart)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83479" y="3063239"/>
            <a:ext cx="3566160" cy="132588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410845" marR="403860">
              <a:lnSpc>
                <a:spcPct val="100000"/>
              </a:lnSpc>
            </a:pP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Key</a:t>
            </a:r>
            <a:r>
              <a:rPr dirty="0" sz="1200" spc="-45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 spc="-20">
                <a:solidFill>
                  <a:srgbClr val="2DBE9E"/>
                </a:solidFill>
                <a:latin typeface="Courier New"/>
                <a:cs typeface="Courier New"/>
              </a:rPr>
              <a:t>k-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mers</a:t>
            </a:r>
            <a:r>
              <a:rPr dirty="0" sz="1200" spc="-4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linked</a:t>
            </a:r>
            <a:r>
              <a:rPr dirty="0" sz="1200" spc="-45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to</a:t>
            </a:r>
            <a:r>
              <a:rPr dirty="0" sz="1200" spc="-4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2DBE9E"/>
                </a:solidFill>
                <a:latin typeface="Courier New"/>
                <a:cs typeface="Courier New"/>
              </a:rPr>
              <a:t>Fusarium: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ATGCGT,</a:t>
            </a:r>
            <a:r>
              <a:rPr dirty="0" sz="1200" spc="-9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TGCGTA,</a:t>
            </a:r>
            <a:r>
              <a:rPr dirty="0" sz="1200" spc="-85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2DBE9E"/>
                </a:solidFill>
                <a:latin typeface="Courier New"/>
                <a:cs typeface="Courier New"/>
              </a:rPr>
              <a:t>CGTATG</a:t>
            </a:r>
            <a:endParaRPr sz="12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→</a:t>
            </a:r>
            <a:r>
              <a:rPr dirty="0" sz="1200" spc="-45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map</a:t>
            </a:r>
            <a:r>
              <a:rPr dirty="0" sz="1200" spc="-4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to</a:t>
            </a:r>
            <a:r>
              <a:rPr dirty="0" sz="1200" spc="-4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F.</a:t>
            </a:r>
            <a:r>
              <a:rPr dirty="0" sz="1200" spc="-45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2DBE9E"/>
                </a:solidFill>
                <a:latin typeface="Courier New"/>
                <a:cs typeface="Courier New"/>
              </a:rPr>
              <a:t>oxysporum</a:t>
            </a:r>
            <a:r>
              <a:rPr dirty="0" sz="1200" spc="-40">
                <a:solidFill>
                  <a:srgbClr val="2DBE9E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2DBE9E"/>
                </a:solidFill>
                <a:latin typeface="Courier New"/>
                <a:cs typeface="Courier New"/>
              </a:rPr>
              <a:t>genome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/>
              <a:t>Results</a:t>
            </a:r>
            <a:r>
              <a:rPr dirty="0" spc="-55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/>
              <a:t>ANN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1D-</a:t>
            </a:r>
            <a:r>
              <a:rPr dirty="0" spc="-25"/>
              <a:t>CNN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Both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models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show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strong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promise,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with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trade-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offs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659" y="1223789"/>
              <a:ext cx="4135120" cy="349504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298447"/>
              <a:ext cx="3931920" cy="3291840"/>
            </a:xfrm>
            <a:custGeom>
              <a:avLst/>
              <a:gdLst/>
              <a:ahLst/>
              <a:cxnLst/>
              <a:rect l="l" t="t" r="r" b="b"/>
              <a:pathLst>
                <a:path w="3931920" h="3291840">
                  <a:moveTo>
                    <a:pt x="3931919" y="3291839"/>
                  </a:moveTo>
                  <a:lnTo>
                    <a:pt x="0" y="3291839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3291839"/>
                  </a:lnTo>
                  <a:close/>
                </a:path>
              </a:pathLst>
            </a:custGeom>
            <a:solidFill>
              <a:srgbClr val="1A79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884501" y="1331467"/>
            <a:ext cx="1076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8A951"/>
                </a:solidFill>
                <a:latin typeface="Calibri"/>
                <a:cs typeface="Calibri"/>
              </a:rPr>
              <a:t>ANN</a:t>
            </a:r>
            <a:r>
              <a:rPr dirty="0" sz="1800" spc="-5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8A951"/>
                </a:solidFill>
                <a:latin typeface="Calibri"/>
                <a:cs typeface="Calibri"/>
              </a:rPr>
              <a:t>(MLP)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48640" y="1755648"/>
          <a:ext cx="3825240" cy="230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9040"/>
              </a:tblGrid>
              <a:tr h="438784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Accuracy:</a:t>
                      </a:r>
                      <a:r>
                        <a:rPr dirty="0" sz="1400" spc="2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dirty="0" sz="1400" spc="-35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F1:</a:t>
                      </a:r>
                      <a:r>
                        <a:rPr dirty="0" sz="1400" spc="254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0.84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AUC:</a:t>
                      </a:r>
                      <a:r>
                        <a:rPr dirty="0" sz="1400" spc="254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0.89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MCC:</a:t>
                      </a:r>
                      <a:r>
                        <a:rPr dirty="0" sz="1400" spc="254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0.77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Epochs:</a:t>
                      </a:r>
                      <a:r>
                        <a:rPr dirty="0" sz="1400" spc="24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38</a:t>
                      </a:r>
                      <a:r>
                        <a:rPr dirty="0" sz="1400" spc="-3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(ES)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D2E2E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286360" y="4277867"/>
            <a:ext cx="2273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Figure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4.4: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ANN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Confusion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26339" y="1223789"/>
            <a:ext cx="4135120" cy="3495040"/>
            <a:chOff x="4626339" y="1223789"/>
            <a:chExt cx="4135120" cy="349504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6339" y="1223789"/>
              <a:ext cx="4135120" cy="349504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754880" y="1298448"/>
              <a:ext cx="3931920" cy="3291840"/>
            </a:xfrm>
            <a:custGeom>
              <a:avLst/>
              <a:gdLst/>
              <a:ahLst/>
              <a:cxnLst/>
              <a:rect l="l" t="t" r="r" b="b"/>
              <a:pathLst>
                <a:path w="3931920" h="3291840">
                  <a:moveTo>
                    <a:pt x="3931919" y="3291839"/>
                  </a:moveTo>
                  <a:lnTo>
                    <a:pt x="0" y="3291839"/>
                  </a:lnTo>
                  <a:lnTo>
                    <a:pt x="0" y="0"/>
                  </a:lnTo>
                  <a:lnTo>
                    <a:pt x="3931919" y="0"/>
                  </a:lnTo>
                  <a:lnTo>
                    <a:pt x="3931919" y="329183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332088" y="1331467"/>
            <a:ext cx="776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8A951"/>
                </a:solidFill>
                <a:latin typeface="Calibri"/>
                <a:cs typeface="Calibri"/>
              </a:rPr>
              <a:t>1D-</a:t>
            </a:r>
            <a:r>
              <a:rPr dirty="0" sz="1800" spc="-25" b="1">
                <a:solidFill>
                  <a:srgbClr val="C8A951"/>
                </a:solidFill>
                <a:latin typeface="Calibri"/>
                <a:cs typeface="Calibri"/>
              </a:rPr>
              <a:t>CNN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12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4846320" y="1755648"/>
          <a:ext cx="3825240" cy="230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9040"/>
              </a:tblGrid>
              <a:tr h="438784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Accuracy:</a:t>
                      </a:r>
                      <a:r>
                        <a:rPr dirty="0" sz="1400" spc="2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88%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dirty="0" sz="1400" spc="-35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F1:</a:t>
                      </a:r>
                      <a:r>
                        <a:rPr dirty="0" sz="1400" spc="254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0.87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AUC:</a:t>
                      </a:r>
                      <a:r>
                        <a:rPr dirty="0" sz="1400" spc="254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0.92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MCC:</a:t>
                      </a:r>
                      <a:r>
                        <a:rPr dirty="0" sz="1400" spc="254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D9E7E6"/>
                          </a:solidFill>
                          <a:latin typeface="Calibri"/>
                          <a:cs typeface="Calibri"/>
                        </a:rPr>
                        <a:t>0.82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A796E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Epochs:</a:t>
                      </a:r>
                      <a:r>
                        <a:rPr dirty="0" sz="1400" spc="24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400" spc="-35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C8A951"/>
                          </a:solidFill>
                          <a:latin typeface="Calibri"/>
                          <a:cs typeface="Calibri"/>
                        </a:rPr>
                        <a:t>(ES)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D2E2E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5587959" y="4277867"/>
            <a:ext cx="22656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Figure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4.5: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Confusion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pc="-10"/>
              <a:t>Comparative</a:t>
            </a:r>
            <a:r>
              <a:rPr dirty="0" spc="-125"/>
              <a:t> </a:t>
            </a:r>
            <a:r>
              <a:rPr dirty="0"/>
              <a:t>Model</a:t>
            </a:r>
            <a:r>
              <a:rPr dirty="0" spc="-125"/>
              <a:t> </a:t>
            </a:r>
            <a:r>
              <a:rPr dirty="0" spc="-10"/>
              <a:t>Performance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Random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Forest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leads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—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consistently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and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by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a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clear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margin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2437" y="1293685"/>
          <a:ext cx="7401559" cy="1681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1005840"/>
                <a:gridCol w="1005840"/>
                <a:gridCol w="1005839"/>
                <a:gridCol w="914400"/>
                <a:gridCol w="1188719"/>
                <a:gridCol w="731520"/>
              </a:tblGrid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dirty="0" sz="13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AUC-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MCC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r>
                        <a:rPr dirty="0" sz="13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Rank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0D2E2E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3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latin typeface="Calibri"/>
                          <a:cs typeface="Calibri"/>
                        </a:rPr>
                        <a:t>Forest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>
                          <a:latin typeface="Calibri"/>
                          <a:cs typeface="Calibri"/>
                        </a:rPr>
                        <a:t>92%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0.91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0.95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0.88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latin typeface="Calibri"/>
                          <a:cs typeface="Calibri"/>
                        </a:rPr>
                        <a:t>~18</a:t>
                      </a:r>
                      <a:r>
                        <a:rPr dirty="0" sz="1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latin typeface="Calibri"/>
                          <a:cs typeface="Calibri"/>
                        </a:rPr>
                        <a:t>sec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 b="1">
                          <a:solidFill>
                            <a:srgbClr val="1A6B3E"/>
                          </a:solidFill>
                          <a:latin typeface="Calibri"/>
                          <a:cs typeface="Calibri"/>
                        </a:rPr>
                        <a:t>1st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>
                          <a:latin typeface="Calibri"/>
                          <a:cs typeface="Calibri"/>
                        </a:rPr>
                        <a:t>1D-</a:t>
                      </a:r>
                      <a:r>
                        <a:rPr dirty="0" sz="1300" spc="-25">
                          <a:latin typeface="Calibri"/>
                          <a:cs typeface="Calibri"/>
                        </a:rPr>
                        <a:t>CNN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>
                          <a:latin typeface="Calibri"/>
                          <a:cs typeface="Calibri"/>
                        </a:rPr>
                        <a:t>88%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0.87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0.82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latin typeface="Calibri"/>
                          <a:cs typeface="Calibri"/>
                        </a:rPr>
                        <a:t>~12</a:t>
                      </a:r>
                      <a:r>
                        <a:rPr dirty="0" sz="13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latin typeface="Calibri"/>
                          <a:cs typeface="Calibri"/>
                        </a:rPr>
                        <a:t>min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>
                          <a:solidFill>
                            <a:srgbClr val="1A796E"/>
                          </a:solidFill>
                          <a:latin typeface="Calibri"/>
                          <a:cs typeface="Calibri"/>
                        </a:rPr>
                        <a:t>2nd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latin typeface="Calibri"/>
                          <a:cs typeface="Calibri"/>
                        </a:rPr>
                        <a:t>ANN</a:t>
                      </a:r>
                      <a:r>
                        <a:rPr dirty="0" sz="13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latin typeface="Calibri"/>
                          <a:cs typeface="Calibri"/>
                        </a:rPr>
                        <a:t>(MLP)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>
                          <a:latin typeface="Calibri"/>
                          <a:cs typeface="Calibri"/>
                        </a:rPr>
                        <a:t>85%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0.84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0.89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latin typeface="Calibri"/>
                          <a:cs typeface="Calibri"/>
                        </a:rPr>
                        <a:t>0.77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latin typeface="Calibri"/>
                          <a:cs typeface="Calibri"/>
                        </a:rPr>
                        <a:t>~3.5</a:t>
                      </a:r>
                      <a:r>
                        <a:rPr dirty="0" sz="13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latin typeface="Calibri"/>
                          <a:cs typeface="Calibri"/>
                        </a:rPr>
                        <a:t>min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5">
                          <a:solidFill>
                            <a:srgbClr val="6B7A8D"/>
                          </a:solidFill>
                          <a:latin typeface="Calibri"/>
                          <a:cs typeface="Calibri"/>
                        </a:rPr>
                        <a:t>3rd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D9E7E6"/>
                      </a:solidFill>
                      <a:prstDash val="solid"/>
                    </a:lnL>
                    <a:lnR w="9525">
                      <a:solidFill>
                        <a:srgbClr val="D9E7E6"/>
                      </a:solidFill>
                      <a:prstDash val="solid"/>
                    </a:lnR>
                    <a:lnT w="9525">
                      <a:solidFill>
                        <a:srgbClr val="D9E7E6"/>
                      </a:solidFill>
                      <a:prstDash val="solid"/>
                    </a:lnT>
                    <a:lnB w="9525">
                      <a:solidFill>
                        <a:srgbClr val="D9E7E6"/>
                      </a:solidFill>
                      <a:prstDash val="soli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6650" y="1707671"/>
            <a:ext cx="205507" cy="193418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6" name="object 6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449" y="3310185"/>
              <a:ext cx="8229599" cy="146309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487809" y="3035234"/>
            <a:ext cx="3952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i="1">
                <a:latin typeface="Calibri"/>
                <a:cs typeface="Calibri"/>
              </a:rPr>
              <a:t>Table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5.2: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Comprehensive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comparison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across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evaluation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metrics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13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143255"/>
            <a:ext cx="82550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1665" algn="l"/>
              </a:tabLst>
            </a:pPr>
            <a:r>
              <a:rPr dirty="0" u="heavy" sz="3200" spc="-25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Cross-</a:t>
            </a:r>
            <a:r>
              <a:rPr dirty="0" u="heavy" sz="3200" spc="-2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Validation</a:t>
            </a:r>
            <a:r>
              <a:rPr dirty="0" u="heavy" sz="3200" spc="-35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&amp;</a:t>
            </a:r>
            <a:r>
              <a:rPr dirty="0" u="heavy" sz="3200" spc="-3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Class-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Level</a:t>
            </a:r>
            <a:r>
              <a:rPr dirty="0" u="heavy" sz="3200" spc="-3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 </a:t>
            </a:r>
            <a:r>
              <a:rPr dirty="0" u="heavy" sz="3200" spc="-1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Analysis</a:t>
            </a:r>
            <a:r>
              <a:rPr dirty="0" u="heavy" sz="3200">
                <a:solidFill>
                  <a:srgbClr val="FFFFFF"/>
                </a:solidFill>
                <a:uFill>
                  <a:solidFill>
                    <a:srgbClr val="C8A951"/>
                  </a:solidFill>
                </a:uFill>
              </a:rPr>
              <a:t>	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838200"/>
            <a:ext cx="26777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5-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Fold</a:t>
            </a:r>
            <a:r>
              <a:rPr dirty="0" sz="14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Cross-</a:t>
            </a:r>
            <a:r>
              <a:rPr dirty="0" sz="1400" spc="-20" b="1">
                <a:solidFill>
                  <a:srgbClr val="C8A951"/>
                </a:solidFill>
                <a:latin typeface="Calibri"/>
                <a:cs typeface="Calibri"/>
              </a:rPr>
              <a:t>Validation</a:t>
            </a:r>
            <a:r>
              <a:rPr dirty="0" sz="14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(mean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±</a:t>
            </a:r>
            <a:r>
              <a:rPr dirty="0" sz="14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C8A951"/>
                </a:solidFill>
                <a:latin typeface="Calibri"/>
                <a:cs typeface="Calibri"/>
              </a:rPr>
              <a:t>std)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52437" y="1138237"/>
          <a:ext cx="5207000" cy="146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1234440"/>
                <a:gridCol w="1234440"/>
                <a:gridCol w="1188720"/>
              </a:tblGrid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CV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Accuracy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CV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CV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  <a:solidFill>
                      <a:srgbClr val="145757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300" spc="-7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91.4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1.2%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0.90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0.94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1D-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CNN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87.1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2.1%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0.86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0.91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ANN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(MLP)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84.3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2.8%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0.83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0.03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2774414" y="2653792"/>
            <a:ext cx="48640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i="1">
                <a:solidFill>
                  <a:srgbClr val="D9E7E6"/>
                </a:solidFill>
                <a:latin typeface="Calibri"/>
                <a:cs typeface="Calibri"/>
              </a:rPr>
              <a:t>Table</a:t>
            </a:r>
            <a:r>
              <a:rPr dirty="0" sz="1000" spc="-10" i="1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000" spc="-25" i="1">
                <a:solidFill>
                  <a:srgbClr val="D9E7E6"/>
                </a:solidFill>
                <a:latin typeface="Calibri"/>
                <a:cs typeface="Calibri"/>
              </a:rPr>
              <a:t>5.3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2941320"/>
            <a:ext cx="21323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C8A951"/>
                </a:solidFill>
                <a:latin typeface="Calibri"/>
                <a:cs typeface="Calibri"/>
              </a:rPr>
              <a:t>Class-</a:t>
            </a:r>
            <a:r>
              <a:rPr dirty="0" sz="1400" b="1">
                <a:solidFill>
                  <a:srgbClr val="C8A951"/>
                </a:solidFill>
                <a:latin typeface="Calibri"/>
                <a:cs typeface="Calibri"/>
              </a:rPr>
              <a:t>Wise</a:t>
            </a:r>
            <a:r>
              <a:rPr dirty="0" sz="1400" spc="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C8A951"/>
                </a:solidFill>
                <a:latin typeface="Calibri"/>
                <a:cs typeface="Calibri"/>
              </a:rPr>
              <a:t>Performance</a:t>
            </a:r>
            <a:r>
              <a:rPr dirty="0" sz="1400" spc="1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C8A951"/>
                </a:solidFill>
                <a:latin typeface="Calibri"/>
                <a:cs typeface="Calibri"/>
              </a:rPr>
              <a:t>(RF)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52437" y="3236595"/>
          <a:ext cx="5207000" cy="146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1234440"/>
                <a:gridCol w="1234440"/>
                <a:gridCol w="1188720"/>
              </a:tblGrid>
              <a:tr h="3746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solidFill>
                      <a:srgbClr val="1A796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solidFill>
                      <a:srgbClr val="1A796E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Healthy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0.97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0.95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Advanced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9525">
                      <a:solidFill>
                        <a:srgbClr val="1A796E"/>
                      </a:solidFill>
                      <a:prstDash val="solid"/>
                    </a:lnL>
                    <a:lnR w="9525">
                      <a:solidFill>
                        <a:srgbClr val="1A796E"/>
                      </a:solidFill>
                      <a:prstDash val="solid"/>
                    </a:lnR>
                    <a:lnT w="9525">
                      <a:solidFill>
                        <a:srgbClr val="1A796E"/>
                      </a:solidFill>
                      <a:prstDash val="solid"/>
                    </a:lnT>
                    <a:lnB w="9525">
                      <a:solidFill>
                        <a:srgbClr val="1A796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2179" y="1040908"/>
            <a:ext cx="3129280" cy="381508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60720" y="1115567"/>
            <a:ext cx="2926080" cy="3611879"/>
          </a:xfrm>
          <a:prstGeom prst="rect">
            <a:avLst/>
          </a:prstGeom>
          <a:solidFill>
            <a:srgbClr val="145757"/>
          </a:solidFill>
        </p:spPr>
        <p:txBody>
          <a:bodyPr wrap="square" lIns="0" tIns="69850" rIns="0" bIns="0" rtlCol="0" vert="horz">
            <a:spAutoFit/>
          </a:bodyPr>
          <a:lstStyle/>
          <a:p>
            <a:pPr marL="920115">
              <a:lnSpc>
                <a:spcPct val="100000"/>
              </a:lnSpc>
              <a:spcBef>
                <a:spcPts val="550"/>
              </a:spcBef>
            </a:pPr>
            <a:r>
              <a:rPr dirty="0" sz="1500" b="1">
                <a:solidFill>
                  <a:srgbClr val="C8A951"/>
                </a:solidFill>
                <a:latin typeface="Calibri"/>
                <a:cs typeface="Calibri"/>
              </a:rPr>
              <a:t>Error</a:t>
            </a:r>
            <a:r>
              <a:rPr dirty="0" sz="1500" spc="-7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C8A951"/>
                </a:solidFill>
                <a:latin typeface="Calibri"/>
                <a:cs typeface="Calibri"/>
              </a:rPr>
              <a:t>Analysis</a:t>
            </a:r>
            <a:endParaRPr sz="1500">
              <a:latin typeface="Calibri"/>
              <a:cs typeface="Calibri"/>
            </a:endParaRPr>
          </a:p>
          <a:p>
            <a:pPr marL="139065" marR="561975">
              <a:lnSpc>
                <a:spcPct val="100000"/>
              </a:lnSpc>
              <a:spcBef>
                <a:spcPts val="1285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Early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↔</a:t>
            </a:r>
            <a:r>
              <a:rPr dirty="0" sz="13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Advanced boundary</a:t>
            </a:r>
            <a:endParaRPr sz="1300">
              <a:latin typeface="Calibri"/>
              <a:cs typeface="Calibri"/>
            </a:endParaRPr>
          </a:p>
          <a:p>
            <a:pPr marL="139065" marR="796290">
              <a:lnSpc>
                <a:spcPct val="100000"/>
              </a:lnSpc>
              <a:spcBef>
                <a:spcPts val="70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Biologically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expected: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gradual community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shift,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abrupt</a:t>
            </a:r>
            <a:endParaRPr sz="1300">
              <a:latin typeface="Calibri"/>
              <a:cs typeface="Calibri"/>
            </a:endParaRPr>
          </a:p>
          <a:p>
            <a:pPr marL="139065" marR="523240">
              <a:lnSpc>
                <a:spcPct val="100000"/>
              </a:lnSpc>
              <a:spcBef>
                <a:spcPts val="70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Healthy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class: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nearly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perfect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(97%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precision)</a:t>
            </a:r>
            <a:endParaRPr sz="1300">
              <a:latin typeface="Calibri"/>
              <a:cs typeface="Calibri"/>
            </a:endParaRPr>
          </a:p>
          <a:p>
            <a:pPr marL="139065" marR="134620">
              <a:lnSpc>
                <a:spcPct val="100000"/>
              </a:lnSpc>
              <a:spcBef>
                <a:spcPts val="70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3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agree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healthy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seedlots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confidence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zone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14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pc="-10"/>
              <a:t>Discussion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What</a:t>
            </a:r>
            <a:r>
              <a:rPr dirty="0" sz="1300" spc="-3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the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numbers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actually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mean</a:t>
            </a:r>
            <a:r>
              <a:rPr dirty="0" sz="1300" spc="-3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in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10" b="0" i="1">
                <a:solidFill>
                  <a:srgbClr val="1A796E"/>
                </a:solidFill>
                <a:latin typeface="Calibri"/>
                <a:cs typeface="Calibri"/>
              </a:rPr>
              <a:t>practice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217438"/>
              <a:ext cx="4330700" cy="178866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298447"/>
              <a:ext cx="4114800" cy="1572895"/>
            </a:xfrm>
            <a:custGeom>
              <a:avLst/>
              <a:gdLst/>
              <a:ahLst/>
              <a:cxnLst/>
              <a:rect l="l" t="t" r="r" b="b"/>
              <a:pathLst>
                <a:path w="4114800" h="1572895">
                  <a:moveTo>
                    <a:pt x="0" y="0"/>
                  </a:moveTo>
                  <a:lnTo>
                    <a:pt x="4114799" y="0"/>
                  </a:lnTo>
                  <a:lnTo>
                    <a:pt x="4114799" y="1572767"/>
                  </a:lnTo>
                  <a:lnTo>
                    <a:pt x="0" y="157276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7200" y="1298447"/>
              <a:ext cx="567055" cy="1572895"/>
            </a:xfrm>
            <a:custGeom>
              <a:avLst/>
              <a:gdLst/>
              <a:ahLst/>
              <a:cxnLst/>
              <a:rect l="l" t="t" r="r" b="b"/>
              <a:pathLst>
                <a:path w="567055" h="1572895">
                  <a:moveTo>
                    <a:pt x="566927" y="1572767"/>
                  </a:moveTo>
                  <a:lnTo>
                    <a:pt x="0" y="1572767"/>
                  </a:lnTo>
                  <a:lnTo>
                    <a:pt x="0" y="0"/>
                  </a:lnTo>
                  <a:lnTo>
                    <a:pt x="566927" y="0"/>
                  </a:lnTo>
                  <a:lnTo>
                    <a:pt x="566927" y="1572767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69329" y="1982724"/>
            <a:ext cx="1555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RF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4127" y="1298447"/>
            <a:ext cx="3548379" cy="15728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69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Why</a:t>
            </a:r>
            <a:r>
              <a:rPr dirty="0" sz="14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RF</a:t>
            </a:r>
            <a:r>
              <a:rPr dirty="0" sz="14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wins</a:t>
            </a:r>
            <a:r>
              <a:rPr dirty="0" sz="14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4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40" b="1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mer</a:t>
            </a:r>
            <a:r>
              <a:rPr dirty="0" sz="1400" spc="-2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D2E2E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91440" marR="192405">
              <a:lnSpc>
                <a:spcPct val="100000"/>
              </a:lnSpc>
              <a:spcBef>
                <a:spcPts val="670"/>
              </a:spcBef>
            </a:pPr>
            <a:r>
              <a:rPr dirty="0" sz="1400">
                <a:latin typeface="Calibri"/>
                <a:cs typeface="Calibri"/>
              </a:rPr>
              <a:t>Sparse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high-</a:t>
            </a:r>
            <a:r>
              <a:rPr dirty="0" sz="1400">
                <a:latin typeface="Calibri"/>
                <a:cs typeface="Calibri"/>
              </a:rPr>
              <a:t>dim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vectors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suit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tree-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splits perfectly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—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gradient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instability,</a:t>
            </a:r>
            <a:r>
              <a:rPr dirty="0" sz="1400" spc="-25">
                <a:latin typeface="Calibri"/>
                <a:cs typeface="Calibri"/>
              </a:rPr>
              <a:t> no </a:t>
            </a:r>
            <a:r>
              <a:rPr dirty="0" sz="1400" spc="-10">
                <a:latin typeface="Calibri"/>
                <a:cs typeface="Calibri"/>
              </a:rPr>
              <a:t>architecture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tuning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needed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22309" y="2954798"/>
            <a:ext cx="4330700" cy="1788795"/>
            <a:chOff x="322309" y="2954798"/>
            <a:chExt cx="4330700" cy="178879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2954798"/>
              <a:ext cx="4330700" cy="178866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57199" y="3035808"/>
              <a:ext cx="4114800" cy="1572895"/>
            </a:xfrm>
            <a:custGeom>
              <a:avLst/>
              <a:gdLst/>
              <a:ahLst/>
              <a:cxnLst/>
              <a:rect l="l" t="t" r="r" b="b"/>
              <a:pathLst>
                <a:path w="4114800" h="1572895">
                  <a:moveTo>
                    <a:pt x="0" y="0"/>
                  </a:moveTo>
                  <a:lnTo>
                    <a:pt x="4114799" y="0"/>
                  </a:lnTo>
                  <a:lnTo>
                    <a:pt x="4114799" y="1572768"/>
                  </a:lnTo>
                  <a:lnTo>
                    <a:pt x="0" y="1572768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57200" y="3035807"/>
            <a:ext cx="567055" cy="1572895"/>
          </a:xfrm>
          <a:prstGeom prst="rect">
            <a:avLst/>
          </a:prstGeom>
          <a:solidFill>
            <a:srgbClr val="1A796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CNN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24127" y="3035807"/>
            <a:ext cx="3548379" cy="15728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69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CNN's</a:t>
            </a:r>
            <a:r>
              <a:rPr dirty="0" sz="1400" spc="-5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real</a:t>
            </a:r>
            <a:r>
              <a:rPr dirty="0" sz="1400" spc="-5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2E2E"/>
                </a:solidFill>
                <a:latin typeface="Calibri"/>
                <a:cs typeface="Calibri"/>
              </a:rPr>
              <a:t>strength</a:t>
            </a:r>
            <a:endParaRPr sz="1400">
              <a:latin typeface="Calibri"/>
              <a:cs typeface="Calibri"/>
            </a:endParaRPr>
          </a:p>
          <a:p>
            <a:pPr marL="91440" marR="676275">
              <a:lnSpc>
                <a:spcPct val="100000"/>
              </a:lnSpc>
              <a:spcBef>
                <a:spcPts val="670"/>
              </a:spcBef>
            </a:pPr>
            <a:r>
              <a:rPr dirty="0" sz="1400">
                <a:latin typeface="Calibri"/>
                <a:cs typeface="Calibri"/>
              </a:rPr>
              <a:t>Local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convolutional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filters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detect </a:t>
            </a:r>
            <a:r>
              <a:rPr dirty="0" sz="1400" spc="-20">
                <a:latin typeface="Calibri"/>
                <a:cs typeface="Calibri"/>
              </a:rPr>
              <a:t>pathogen-</a:t>
            </a:r>
            <a:r>
              <a:rPr dirty="0" sz="1400" spc="-10">
                <a:latin typeface="Calibri"/>
                <a:cs typeface="Calibri"/>
              </a:rPr>
              <a:t>specific hexamer motifs </a:t>
            </a:r>
            <a:r>
              <a:rPr dirty="0" sz="1400">
                <a:latin typeface="Calibri"/>
                <a:cs typeface="Calibri"/>
              </a:rPr>
              <a:t>—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  <a:p>
            <a:pPr marL="91440" marR="266700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>biologically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meaningful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advantage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future real-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use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93141" y="1217438"/>
            <a:ext cx="4330700" cy="1788795"/>
            <a:chOff x="4693141" y="1217438"/>
            <a:chExt cx="4330700" cy="178879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141" y="1217438"/>
              <a:ext cx="4330700" cy="178866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828032" y="1298447"/>
              <a:ext cx="4114800" cy="1572895"/>
            </a:xfrm>
            <a:custGeom>
              <a:avLst/>
              <a:gdLst/>
              <a:ahLst/>
              <a:cxnLst/>
              <a:rect l="l" t="t" r="r" b="b"/>
              <a:pathLst>
                <a:path w="4114800" h="1572895">
                  <a:moveTo>
                    <a:pt x="0" y="0"/>
                  </a:moveTo>
                  <a:lnTo>
                    <a:pt x="4114799" y="0"/>
                  </a:lnTo>
                  <a:lnTo>
                    <a:pt x="4114799" y="1572767"/>
                  </a:lnTo>
                  <a:lnTo>
                    <a:pt x="0" y="157276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828032" y="1298447"/>
            <a:ext cx="567055" cy="1572895"/>
          </a:xfrm>
          <a:prstGeom prst="rect">
            <a:avLst/>
          </a:prstGeom>
          <a:solidFill>
            <a:srgbClr val="145757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INR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394959" y="1298447"/>
            <a:ext cx="3548379" cy="15728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69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335"/>
              </a:spcBef>
            </a:pPr>
            <a:r>
              <a:rPr dirty="0" sz="1400" spc="-10" b="1">
                <a:solidFill>
                  <a:srgbClr val="0D2E2E"/>
                </a:solidFill>
                <a:latin typeface="Calibri"/>
                <a:cs typeface="Calibri"/>
              </a:rPr>
              <a:t>Practical</a:t>
            </a:r>
            <a:r>
              <a:rPr dirty="0" sz="1400" spc="-3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2E2E"/>
                </a:solidFill>
                <a:latin typeface="Calibri"/>
                <a:cs typeface="Calibri"/>
              </a:rPr>
              <a:t>implication</a:t>
            </a:r>
            <a:r>
              <a:rPr dirty="0" sz="1400" spc="-3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400" spc="-3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2E2E"/>
                </a:solidFill>
                <a:latin typeface="Calibri"/>
                <a:cs typeface="Calibri"/>
              </a:rPr>
              <a:t>India</a:t>
            </a:r>
            <a:endParaRPr sz="1400">
              <a:latin typeface="Calibri"/>
              <a:cs typeface="Calibri"/>
            </a:endParaRPr>
          </a:p>
          <a:p>
            <a:pPr marL="91440" marR="419734">
              <a:lnSpc>
                <a:spcPct val="100000"/>
              </a:lnSpc>
              <a:spcBef>
                <a:spcPts val="670"/>
              </a:spcBef>
            </a:pPr>
            <a:r>
              <a:rPr dirty="0" sz="1300">
                <a:solidFill>
                  <a:srgbClr val="6B7A8D"/>
                </a:solidFill>
                <a:latin typeface="Calibri"/>
                <a:cs typeface="Calibri"/>
              </a:rPr>
              <a:t>9</a:t>
            </a:r>
            <a:r>
              <a:rPr dirty="0" sz="1400">
                <a:latin typeface="Calibri"/>
                <a:cs typeface="Calibri"/>
              </a:rPr>
              <a:t>2%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Arial MT"/>
                <a:cs typeface="Arial MT"/>
              </a:rPr>
              <a:t>→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Calibri"/>
                <a:cs typeface="Calibri"/>
              </a:rPr>
              <a:t>~8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misses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100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lots.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INR </a:t>
            </a:r>
            <a:r>
              <a:rPr dirty="0" sz="1400" spc="-10">
                <a:latin typeface="Calibri"/>
                <a:cs typeface="Calibri"/>
              </a:rPr>
              <a:t>50K/lot,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prevents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~INR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lakh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in </a:t>
            </a:r>
            <a:r>
              <a:rPr dirty="0" sz="1400" spc="-20">
                <a:latin typeface="Calibri"/>
                <a:cs typeface="Calibri"/>
              </a:rPr>
              <a:t>preventable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losses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warehouse cycle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693141" y="2954798"/>
            <a:ext cx="4330700" cy="1788795"/>
            <a:chOff x="4693141" y="2954798"/>
            <a:chExt cx="4330700" cy="1788795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141" y="2954798"/>
              <a:ext cx="4330700" cy="178866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828032" y="3035808"/>
              <a:ext cx="4114800" cy="1572895"/>
            </a:xfrm>
            <a:custGeom>
              <a:avLst/>
              <a:gdLst/>
              <a:ahLst/>
              <a:cxnLst/>
              <a:rect l="l" t="t" r="r" b="b"/>
              <a:pathLst>
                <a:path w="4114800" h="1572895">
                  <a:moveTo>
                    <a:pt x="0" y="0"/>
                  </a:moveTo>
                  <a:lnTo>
                    <a:pt x="4114799" y="0"/>
                  </a:lnTo>
                  <a:lnTo>
                    <a:pt x="4114799" y="1572768"/>
                  </a:lnTo>
                  <a:lnTo>
                    <a:pt x="0" y="1572768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828032" y="3035807"/>
            <a:ext cx="567055" cy="1572895"/>
          </a:xfrm>
          <a:prstGeom prst="rect">
            <a:avLst/>
          </a:prstGeom>
          <a:solidFill>
            <a:srgbClr val="1A5C3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FPO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15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5394959" y="3035807"/>
            <a:ext cx="3548379" cy="15728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69545" rIns="0" bIns="0" rtlCol="0" vert="horz">
            <a:spAutoFit/>
          </a:bodyPr>
          <a:lstStyle/>
          <a:p>
            <a:pPr algn="just" marL="9144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Why</a:t>
            </a:r>
            <a:r>
              <a:rPr dirty="0" sz="1400" spc="-4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this</a:t>
            </a:r>
            <a:r>
              <a:rPr dirty="0" sz="1400" spc="-4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2E2E"/>
                </a:solidFill>
                <a:latin typeface="Calibri"/>
                <a:cs typeface="Calibri"/>
              </a:rPr>
              <a:t>matters</a:t>
            </a:r>
            <a:r>
              <a:rPr dirty="0" sz="1400" spc="-45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400" spc="-40" b="1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D2E2E"/>
                </a:solidFill>
                <a:latin typeface="Calibri"/>
                <a:cs typeface="Calibri"/>
              </a:rPr>
              <a:t>FPOs</a:t>
            </a:r>
            <a:endParaRPr sz="1400">
              <a:latin typeface="Calibri"/>
              <a:cs typeface="Calibri"/>
            </a:endParaRPr>
          </a:p>
          <a:p>
            <a:pPr algn="just" marL="91440" marR="296545">
              <a:lnSpc>
                <a:spcPct val="100000"/>
              </a:lnSpc>
              <a:spcBef>
                <a:spcPts val="670"/>
              </a:spcBef>
            </a:pPr>
            <a:r>
              <a:rPr dirty="0" sz="1400" spc="-20">
                <a:latin typeface="Calibri"/>
                <a:cs typeface="Calibri"/>
              </a:rPr>
              <a:t>18-</a:t>
            </a:r>
            <a:r>
              <a:rPr dirty="0" sz="1400" spc="-10">
                <a:latin typeface="Calibri"/>
                <a:cs typeface="Calibri"/>
              </a:rPr>
              <a:t>second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RF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training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=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deployable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on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ICAR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FPO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laptop,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GPU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—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world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ready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today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1051560"/>
              <a:ext cx="9144000" cy="4091940"/>
            </a:xfrm>
            <a:custGeom>
              <a:avLst/>
              <a:gdLst/>
              <a:ahLst/>
              <a:cxnLst/>
              <a:rect l="l" t="t" r="r" b="b"/>
              <a:pathLst>
                <a:path w="9144000" h="4091940">
                  <a:moveTo>
                    <a:pt x="0" y="4091939"/>
                  </a:moveTo>
                  <a:lnTo>
                    <a:pt x="9143999" y="409193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09193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1051560"/>
            </a:xfrm>
            <a:custGeom>
              <a:avLst/>
              <a:gdLst/>
              <a:ahLst/>
              <a:cxnLst/>
              <a:rect l="l" t="t" r="r" b="b"/>
              <a:pathLst>
                <a:path w="9144000" h="1051560">
                  <a:moveTo>
                    <a:pt x="9143999" y="1051559"/>
                  </a:moveTo>
                  <a:lnTo>
                    <a:pt x="0" y="10515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105155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91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FFFFFF"/>
                </a:solidFill>
              </a:rPr>
              <a:t>Conclusions</a:t>
            </a:r>
            <a:endParaRPr sz="3600"/>
          </a:p>
        </p:txBody>
      </p:sp>
      <p:sp>
        <p:nvSpPr>
          <p:cNvPr id="6" name="object 6" descr=""/>
          <p:cNvSpPr txBox="1"/>
          <p:nvPr/>
        </p:nvSpPr>
        <p:spPr>
          <a:xfrm>
            <a:off x="457200" y="1170431"/>
            <a:ext cx="54864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spc="-25" b="1">
                <a:solidFill>
                  <a:srgbClr val="0D2E2E"/>
                </a:solidFill>
                <a:latin typeface="Calibri"/>
                <a:cs typeface="Calibri"/>
              </a:rPr>
              <a:t>C1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5839" y="1170431"/>
            <a:ext cx="7680959" cy="64008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114935" rIns="0" bIns="0" rtlCol="0" vert="horz">
            <a:spAutoFit/>
          </a:bodyPr>
          <a:lstStyle/>
          <a:p>
            <a:pPr marL="167640" marR="360680">
              <a:lnSpc>
                <a:spcPct val="100000"/>
              </a:lnSpc>
              <a:spcBef>
                <a:spcPts val="905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(92%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acc,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0.91,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AUC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0.95)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recommended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seedlot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k-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mer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profiles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05839" y="1901951"/>
            <a:ext cx="7680959" cy="640080"/>
          </a:xfrm>
          <a:custGeom>
            <a:avLst/>
            <a:gdLst/>
            <a:ahLst/>
            <a:cxnLst/>
            <a:rect l="l" t="t" r="r" b="b"/>
            <a:pathLst>
              <a:path w="7680959" h="640080">
                <a:moveTo>
                  <a:pt x="0" y="640079"/>
                </a:moveTo>
                <a:lnTo>
                  <a:pt x="7680959" y="640079"/>
                </a:lnTo>
                <a:lnTo>
                  <a:pt x="7680959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0D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57200" y="1901951"/>
            <a:ext cx="54864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spc="-25" b="1">
                <a:solidFill>
                  <a:srgbClr val="0D2E2E"/>
                </a:solidFill>
                <a:latin typeface="Calibri"/>
                <a:cs typeface="Calibri"/>
              </a:rPr>
              <a:t>C2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60780" y="2004568"/>
            <a:ext cx="69278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k=6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mer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vectors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(4,096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features)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sufficient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discriminators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computationally prohibitive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k=8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7200" y="2633472"/>
            <a:ext cx="54864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spc="-25" b="1">
                <a:solidFill>
                  <a:srgbClr val="0D2E2E"/>
                </a:solidFill>
                <a:latin typeface="Calibri"/>
                <a:cs typeface="Calibri"/>
              </a:rPr>
              <a:t>C3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5839" y="2633472"/>
            <a:ext cx="7680959" cy="64008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114935" rIns="0" bIns="0" rtlCol="0" vert="horz">
            <a:spAutoFit/>
          </a:bodyPr>
          <a:lstStyle/>
          <a:p>
            <a:pPr marL="167640" marR="725805">
              <a:lnSpc>
                <a:spcPct val="100000"/>
              </a:lnSpc>
              <a:spcBef>
                <a:spcPts val="905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commodity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(i5/8GB)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ICAR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labs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FPOs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without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GPUs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05839" y="3364992"/>
            <a:ext cx="7680959" cy="640080"/>
          </a:xfrm>
          <a:custGeom>
            <a:avLst/>
            <a:gdLst/>
            <a:ahLst/>
            <a:cxnLst/>
            <a:rect l="l" t="t" r="r" b="b"/>
            <a:pathLst>
              <a:path w="7680959" h="640079">
                <a:moveTo>
                  <a:pt x="0" y="640079"/>
                </a:moveTo>
                <a:lnTo>
                  <a:pt x="7680959" y="640079"/>
                </a:lnTo>
                <a:lnTo>
                  <a:pt x="7680959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0D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57200" y="3364992"/>
            <a:ext cx="54864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spc="-25" b="1">
                <a:solidFill>
                  <a:srgbClr val="0D2E2E"/>
                </a:solidFill>
                <a:latin typeface="Calibri"/>
                <a:cs typeface="Calibri"/>
              </a:rPr>
              <a:t>C4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16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160780" y="3467608"/>
            <a:ext cx="69424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1D-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promise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motif-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pathogen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warrants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exploration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NCBI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SRA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57200" y="4096511"/>
            <a:ext cx="548640" cy="640080"/>
          </a:xfrm>
          <a:prstGeom prst="rect">
            <a:avLst/>
          </a:prstGeom>
          <a:solidFill>
            <a:srgbClr val="C8A95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 spc="-25" b="1">
                <a:solidFill>
                  <a:srgbClr val="0D2E2E"/>
                </a:solidFill>
                <a:latin typeface="Calibri"/>
                <a:cs typeface="Calibri"/>
              </a:rPr>
              <a:t>C5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05839" y="4096511"/>
            <a:ext cx="7680959" cy="640080"/>
          </a:xfrm>
          <a:prstGeom prst="rect">
            <a:avLst/>
          </a:prstGeom>
          <a:solidFill>
            <a:srgbClr val="145757"/>
          </a:solidFill>
        </p:spPr>
        <p:txBody>
          <a:bodyPr wrap="square" lIns="0" tIns="114935" rIns="0" bIns="0" rtlCol="0" vert="horz">
            <a:spAutoFit/>
          </a:bodyPr>
          <a:lstStyle/>
          <a:p>
            <a:pPr marL="167640" marR="627380">
              <a:lnSpc>
                <a:spcPct val="100000"/>
              </a:lnSpc>
              <a:spcBef>
                <a:spcPts val="905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directly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India's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PMFME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FPO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certification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mandates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data-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leap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2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/>
              <a:t>Future</a:t>
            </a:r>
            <a:r>
              <a:rPr dirty="0" spc="-160"/>
              <a:t> </a:t>
            </a:r>
            <a:r>
              <a:rPr dirty="0" spc="-10"/>
              <a:t>Scope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10</a:t>
            </a:r>
            <a:r>
              <a:rPr dirty="0" sz="1300" spc="-3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directions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this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work</a:t>
            </a:r>
            <a:r>
              <a:rPr dirty="0" sz="1300" spc="-30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can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b="0" i="1">
                <a:solidFill>
                  <a:srgbClr val="1A796E"/>
                </a:solidFill>
                <a:latin typeface="Calibri"/>
                <a:cs typeface="Calibri"/>
              </a:rPr>
              <a:t>grow</a:t>
            </a:r>
            <a:r>
              <a:rPr dirty="0" sz="1300" spc="-25" b="0" i="1">
                <a:solidFill>
                  <a:srgbClr val="1A796E"/>
                </a:solidFill>
                <a:latin typeface="Calibri"/>
                <a:cs typeface="Calibri"/>
              </a:rPr>
              <a:t> </a:t>
            </a:r>
            <a:r>
              <a:rPr dirty="0" sz="1300" spc="-20" b="0" i="1">
                <a:solidFill>
                  <a:srgbClr val="1A796E"/>
                </a:solidFill>
                <a:latin typeface="Calibri"/>
                <a:cs typeface="Calibri"/>
              </a:rPr>
              <a:t>into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15567"/>
            <a:ext cx="9144000" cy="4028440"/>
            <a:chOff x="0" y="1115567"/>
            <a:chExt cx="9144000" cy="40284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115567"/>
              <a:ext cx="8229600" cy="36830"/>
            </a:xfrm>
            <a:custGeom>
              <a:avLst/>
              <a:gdLst/>
              <a:ahLst/>
              <a:cxnLst/>
              <a:rect l="l" t="t" r="r" b="b"/>
              <a:pathLst>
                <a:path w="8229600" h="36830">
                  <a:moveTo>
                    <a:pt x="8229599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8229599" y="0"/>
                  </a:lnTo>
                  <a:lnTo>
                    <a:pt x="8229599" y="36575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1217438"/>
              <a:ext cx="4284980" cy="122174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298447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57200" y="1298447"/>
            <a:ext cx="822960" cy="100584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00" spc="-20" b="1">
                <a:solidFill>
                  <a:srgbClr val="C8A951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80160" y="1298447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329565">
              <a:lnSpc>
                <a:spcPct val="100000"/>
              </a:lnSpc>
            </a:pP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Validate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real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NCBI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SRA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storage metagenome</a:t>
            </a:r>
            <a:r>
              <a:rPr dirty="0" sz="1300" spc="-5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datasets</a:t>
            </a:r>
            <a:r>
              <a:rPr dirty="0" sz="1300" spc="-4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from</a:t>
            </a:r>
            <a:r>
              <a:rPr dirty="0" sz="1300" spc="-4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ICAR/NBPGR accessions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22309" y="2387871"/>
            <a:ext cx="4284980" cy="1221740"/>
            <a:chOff x="322309" y="2387871"/>
            <a:chExt cx="4284980" cy="122174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2387871"/>
              <a:ext cx="4284980" cy="122174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57199" y="2468880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57200" y="2468879"/>
            <a:ext cx="822960" cy="100584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</a:pPr>
            <a:r>
              <a:rPr dirty="0" sz="1100" spc="-10" b="1">
                <a:solidFill>
                  <a:srgbClr val="C8A951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80160" y="2468879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79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5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179705">
              <a:lnSpc>
                <a:spcPct val="100000"/>
              </a:lnSpc>
            </a:pP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Apply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Vision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Transformer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(ViT)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2D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k-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mer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co-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occurrence matrices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22309" y="3558302"/>
            <a:ext cx="4284980" cy="1221740"/>
            <a:chOff x="322309" y="3558302"/>
            <a:chExt cx="4284980" cy="122174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09" y="3558302"/>
              <a:ext cx="4284980" cy="122174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57199" y="3639311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57200" y="3639311"/>
            <a:ext cx="822960" cy="1005840"/>
          </a:xfrm>
          <a:prstGeom prst="rect">
            <a:avLst/>
          </a:prstGeom>
          <a:solidFill>
            <a:srgbClr val="0D2E2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marL="207010">
              <a:lnSpc>
                <a:spcPct val="100000"/>
              </a:lnSpc>
            </a:pPr>
            <a:r>
              <a:rPr dirty="0" sz="1100" spc="-10" b="1">
                <a:solidFill>
                  <a:srgbClr val="C8A951"/>
                </a:solidFill>
                <a:latin typeface="Calibri"/>
                <a:cs typeface="Calibri"/>
              </a:rPr>
              <a:t>Deploy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280160" y="3639311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79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5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337820">
              <a:lnSpc>
                <a:spcPct val="100000"/>
              </a:lnSpc>
            </a:pP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Edge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inference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Raspberry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Pi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4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for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FPO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field</a:t>
            </a:r>
            <a:r>
              <a:rPr dirty="0" sz="1300" spc="-5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use</a:t>
            </a:r>
            <a:r>
              <a:rPr dirty="0" sz="1300" spc="-5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(ONNX</a:t>
            </a:r>
            <a:r>
              <a:rPr dirty="0" sz="1300" spc="-4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serialization)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665709" y="1217438"/>
            <a:ext cx="4284980" cy="1221740"/>
            <a:chOff x="4665709" y="1217438"/>
            <a:chExt cx="4284980" cy="1221740"/>
          </a:xfrm>
        </p:grpSpPr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5709" y="1217438"/>
              <a:ext cx="4284980" cy="122174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800600" y="1298447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4800600" y="1298447"/>
            <a:ext cx="822960" cy="100584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100" spc="-10" b="1">
                <a:solidFill>
                  <a:srgbClr val="C8A951"/>
                </a:solidFill>
                <a:latin typeface="Calibri"/>
                <a:cs typeface="Calibri"/>
              </a:rPr>
              <a:t>Omics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623559" y="1298447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347345">
              <a:lnSpc>
                <a:spcPct val="100000"/>
              </a:lnSpc>
            </a:pP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Extend</a:t>
            </a:r>
            <a:r>
              <a:rPr dirty="0" sz="1300" spc="-4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to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multi-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omics: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combine metagenomics</a:t>
            </a:r>
            <a:r>
              <a:rPr dirty="0" sz="1300" spc="-1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+</a:t>
            </a:r>
            <a:r>
              <a:rPr dirty="0" sz="1300" spc="-1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mycotoxin</a:t>
            </a:r>
            <a:r>
              <a:rPr dirty="0" sz="1300" spc="-1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metabolome panels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665709" y="2387871"/>
            <a:ext cx="4284980" cy="1221740"/>
            <a:chOff x="4665709" y="2387871"/>
            <a:chExt cx="4284980" cy="1221740"/>
          </a:xfrm>
        </p:grpSpPr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5709" y="2387871"/>
              <a:ext cx="4284980" cy="122174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800600" y="2468880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800600" y="2468879"/>
            <a:ext cx="822960" cy="100584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XAI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623559" y="2468879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237490">
              <a:lnSpc>
                <a:spcPct val="100000"/>
              </a:lnSpc>
            </a:pP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SHAP</a:t>
            </a:r>
            <a:r>
              <a:rPr dirty="0" sz="1300" spc="-4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value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overlays</a:t>
            </a:r>
            <a:r>
              <a:rPr dirty="0" sz="1300" spc="-4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to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map</a:t>
            </a:r>
            <a:r>
              <a:rPr dirty="0" sz="1300" spc="-4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RF</a:t>
            </a:r>
            <a:r>
              <a:rPr dirty="0" sz="1300" spc="-3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feature importances</a:t>
            </a:r>
            <a:r>
              <a:rPr dirty="0" sz="1300" spc="-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Arial MT"/>
                <a:cs typeface="Arial MT"/>
              </a:rPr>
              <a:t>→</a:t>
            </a:r>
            <a:r>
              <a:rPr dirty="0" sz="1300" spc="-80">
                <a:solidFill>
                  <a:srgbClr val="0D2E2E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specific</a:t>
            </a:r>
            <a:r>
              <a:rPr dirty="0" sz="1300" spc="-1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pathogen</a:t>
            </a:r>
            <a:r>
              <a:rPr dirty="0" sz="1300" spc="-1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genome regions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665709" y="3558302"/>
            <a:ext cx="4284980" cy="1221740"/>
            <a:chOff x="4665709" y="3558302"/>
            <a:chExt cx="4284980" cy="1221740"/>
          </a:xfrm>
        </p:grpSpPr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5709" y="3558302"/>
              <a:ext cx="4284980" cy="122174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800600" y="3639311"/>
              <a:ext cx="4069079" cy="1005840"/>
            </a:xfrm>
            <a:custGeom>
              <a:avLst/>
              <a:gdLst/>
              <a:ahLst/>
              <a:cxnLst/>
              <a:rect l="l" t="t" r="r" b="b"/>
              <a:pathLst>
                <a:path w="4069079" h="1005839">
                  <a:moveTo>
                    <a:pt x="0" y="0"/>
                  </a:moveTo>
                  <a:lnTo>
                    <a:pt x="4069079" y="0"/>
                  </a:lnTo>
                  <a:lnTo>
                    <a:pt x="40690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D9E7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800600" y="3639311"/>
            <a:ext cx="822960" cy="1005840"/>
          </a:xfrm>
          <a:prstGeom prst="rect">
            <a:avLst/>
          </a:prstGeom>
          <a:solidFill>
            <a:srgbClr val="1A796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00" spc="-25" b="1">
                <a:solidFill>
                  <a:srgbClr val="C8A951"/>
                </a:solidFill>
                <a:latin typeface="Calibri"/>
                <a:cs typeface="Calibri"/>
              </a:rPr>
              <a:t>DL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17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5623559" y="3639311"/>
            <a:ext cx="3246120" cy="1005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Times New Roman"/>
              <a:cs typeface="Times New Roman"/>
            </a:endParaRPr>
          </a:p>
          <a:p>
            <a:pPr marL="167640" marR="180340">
              <a:lnSpc>
                <a:spcPct val="100000"/>
              </a:lnSpc>
            </a:pP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Transfer</a:t>
            </a:r>
            <a:r>
              <a:rPr dirty="0" sz="1300" spc="-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learning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 from </a:t>
            </a:r>
            <a:r>
              <a:rPr dirty="0" sz="1300" spc="-30">
                <a:solidFill>
                  <a:srgbClr val="0D2E2E"/>
                </a:solidFill>
                <a:latin typeface="Calibri"/>
                <a:cs typeface="Calibri"/>
              </a:rPr>
              <a:t>DNABERT-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2</a:t>
            </a:r>
            <a:r>
              <a:rPr dirty="0" sz="1300" spc="-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0D2E2E"/>
                </a:solidFill>
                <a:latin typeface="Calibri"/>
                <a:cs typeface="Calibri"/>
              </a:rPr>
              <a:t>/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Nucleotide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Transformer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D2E2E"/>
                </a:solidFill>
                <a:latin typeface="Calibri"/>
                <a:cs typeface="Calibri"/>
              </a:rPr>
              <a:t>fine-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tuned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D2E2E"/>
                </a:solidFill>
                <a:latin typeface="Calibri"/>
                <a:cs typeface="Calibri"/>
              </a:rPr>
              <a:t>on</a:t>
            </a:r>
            <a:r>
              <a:rPr dirty="0" sz="1300" spc="-25">
                <a:solidFill>
                  <a:srgbClr val="0D2E2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D2E2E"/>
                </a:solidFill>
                <a:latin typeface="Calibri"/>
                <a:cs typeface="Calibri"/>
              </a:rPr>
              <a:t>seed data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3200400" y="0"/>
              <a:ext cx="5943600" cy="5143500"/>
            </a:xfrm>
            <a:custGeom>
              <a:avLst/>
              <a:gdLst/>
              <a:ahLst/>
              <a:cxnLst/>
              <a:rect l="l" t="t" r="r" b="b"/>
              <a:pathLst>
                <a:path w="5943600" h="5143500">
                  <a:moveTo>
                    <a:pt x="0" y="5143499"/>
                  </a:moveTo>
                  <a:lnTo>
                    <a:pt x="5943599" y="5143499"/>
                  </a:lnTo>
                  <a:lnTo>
                    <a:pt x="5943599" y="0"/>
                  </a:lnTo>
                  <a:lnTo>
                    <a:pt x="0" y="0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20040" y="0"/>
              <a:ext cx="2880360" cy="4892040"/>
            </a:xfrm>
            <a:custGeom>
              <a:avLst/>
              <a:gdLst/>
              <a:ahLst/>
              <a:cxnLst/>
              <a:rect l="l" t="t" r="r" b="b"/>
              <a:pathLst>
                <a:path w="2880360" h="4892040">
                  <a:moveTo>
                    <a:pt x="0" y="4892039"/>
                  </a:moveTo>
                  <a:lnTo>
                    <a:pt x="2880359" y="4892039"/>
                  </a:lnTo>
                  <a:lnTo>
                    <a:pt x="2880359" y="0"/>
                  </a:lnTo>
                  <a:lnTo>
                    <a:pt x="0" y="0"/>
                  </a:lnTo>
                  <a:lnTo>
                    <a:pt x="0" y="4892039"/>
                  </a:lnTo>
                  <a:close/>
                </a:path>
              </a:pathLst>
            </a:custGeom>
            <a:solidFill>
              <a:srgbClr val="14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320040" cy="4892040"/>
            </a:xfrm>
            <a:custGeom>
              <a:avLst/>
              <a:gdLst/>
              <a:ahLst/>
              <a:cxnLst/>
              <a:rect l="l" t="t" r="r" b="b"/>
              <a:pathLst>
                <a:path w="320040" h="4892040">
                  <a:moveTo>
                    <a:pt x="0" y="4892039"/>
                  </a:moveTo>
                  <a:lnTo>
                    <a:pt x="320039" y="4892039"/>
                  </a:lnTo>
                  <a:lnTo>
                    <a:pt x="320039" y="0"/>
                  </a:lnTo>
                  <a:lnTo>
                    <a:pt x="0" y="0"/>
                  </a:lnTo>
                  <a:lnTo>
                    <a:pt x="0" y="4892039"/>
                  </a:lnTo>
                  <a:close/>
                </a:path>
              </a:pathLst>
            </a:custGeom>
            <a:solidFill>
              <a:srgbClr val="C8A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7200" y="27432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2285999" y="2285999"/>
                  </a:moveTo>
                  <a:lnTo>
                    <a:pt x="0" y="22859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2285999"/>
                  </a:lnTo>
                  <a:close/>
                </a:path>
              </a:pathLst>
            </a:custGeom>
            <a:solidFill>
              <a:srgbClr val="1A796E">
                <a:alpha val="4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71600" y="32004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1371599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1371599" y="0"/>
                  </a:lnTo>
                  <a:lnTo>
                    <a:pt x="1371599" y="1371599"/>
                  </a:lnTo>
                  <a:close/>
                </a:path>
              </a:pathLst>
            </a:custGeom>
            <a:solidFill>
              <a:srgbClr val="C8A95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70579" y="737108"/>
            <a:ext cx="295783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C8A951"/>
                </a:solidFill>
              </a:rPr>
              <a:t>Thank</a:t>
            </a:r>
            <a:r>
              <a:rPr dirty="0" sz="5400" spc="-60">
                <a:solidFill>
                  <a:srgbClr val="C8A951"/>
                </a:solidFill>
              </a:rPr>
              <a:t> </a:t>
            </a:r>
            <a:r>
              <a:rPr dirty="0" sz="5400" spc="-130">
                <a:solidFill>
                  <a:srgbClr val="C8A951"/>
                </a:solidFill>
              </a:rPr>
              <a:t>You</a:t>
            </a:r>
            <a:endParaRPr sz="5400"/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1664207"/>
            <a:ext cx="9144000" cy="3479800"/>
            <a:chOff x="0" y="1664207"/>
            <a:chExt cx="9144000" cy="3479800"/>
          </a:xfrm>
        </p:grpSpPr>
        <p:sp>
          <p:nvSpPr>
            <p:cNvPr id="10" name="object 10" descr=""/>
            <p:cNvSpPr/>
            <p:nvPr/>
          </p:nvSpPr>
          <p:spPr>
            <a:xfrm>
              <a:off x="3383279" y="1664207"/>
              <a:ext cx="5303520" cy="55244"/>
            </a:xfrm>
            <a:custGeom>
              <a:avLst/>
              <a:gdLst/>
              <a:ahLst/>
              <a:cxnLst/>
              <a:rect l="l" t="t" r="r" b="b"/>
              <a:pathLst>
                <a:path w="5303520" h="55244">
                  <a:moveTo>
                    <a:pt x="5303519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5303519" y="0"/>
                  </a:lnTo>
                  <a:lnTo>
                    <a:pt x="5303519" y="54863"/>
                  </a:lnTo>
                  <a:close/>
                </a:path>
              </a:pathLst>
            </a:custGeom>
            <a:solidFill>
              <a:srgbClr val="2DB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4892039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999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459"/>
                  </a:lnTo>
                  <a:close/>
                </a:path>
              </a:pathLst>
            </a:custGeom>
            <a:solidFill>
              <a:srgbClr val="0D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370579" y="1820164"/>
            <a:ext cx="26695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D9E7E6"/>
                </a:solidFill>
                <a:latin typeface="Calibri"/>
                <a:cs typeface="Calibri"/>
              </a:rPr>
              <a:t>Questions</a:t>
            </a:r>
            <a:r>
              <a:rPr dirty="0" sz="2200" spc="-3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9E7E6"/>
                </a:solidFill>
                <a:latin typeface="Calibri"/>
                <a:cs typeface="Calibri"/>
              </a:rPr>
              <a:t>&amp;</a:t>
            </a:r>
            <a:r>
              <a:rPr dirty="0" sz="2200" spc="-3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D9E7E6"/>
                </a:solidFill>
                <a:latin typeface="Calibri"/>
                <a:cs typeface="Calibri"/>
              </a:rPr>
              <a:t>Discussion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ML</a:t>
            </a:r>
            <a:r>
              <a:rPr dirty="0" spc="-25"/>
              <a:t> </a:t>
            </a:r>
            <a:r>
              <a:rPr dirty="0" spc="-10"/>
              <a:t>Detection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Seed-</a:t>
            </a:r>
            <a:r>
              <a:rPr dirty="0"/>
              <a:t>Borne</a:t>
            </a:r>
            <a:r>
              <a:rPr dirty="0" spc="-20"/>
              <a:t> </a:t>
            </a:r>
            <a:r>
              <a:rPr dirty="0"/>
              <a:t>Pathogens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UAS</a:t>
            </a:r>
            <a:r>
              <a:rPr dirty="0" spc="-25"/>
              <a:t> </a:t>
            </a:r>
            <a:r>
              <a:rPr dirty="0" spc="-10"/>
              <a:t>Bangalore</a:t>
            </a:r>
            <a:r>
              <a:rPr dirty="0" spc="-20"/>
              <a:t> </a:t>
            </a:r>
            <a:r>
              <a:rPr dirty="0"/>
              <a:t>(GKVK),</a:t>
            </a:r>
            <a:r>
              <a:rPr dirty="0" spc="-20"/>
              <a:t> </a:t>
            </a:r>
            <a:r>
              <a:rPr dirty="0"/>
              <a:t>Bengaluru</a:t>
            </a:r>
            <a:r>
              <a:rPr dirty="0" spc="16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18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5"/>
              <a:t> 18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3383279" y="2395727"/>
            <a:ext cx="5303520" cy="2103120"/>
          </a:xfrm>
          <a:prstGeom prst="rect">
            <a:avLst/>
          </a:prstGeom>
          <a:solidFill>
            <a:srgbClr val="145757">
              <a:alpha val="70195"/>
            </a:srgbClr>
          </a:solidFill>
          <a:ln w="12699">
            <a:solidFill>
              <a:srgbClr val="1A796E"/>
            </a:solidFill>
          </a:ln>
        </p:spPr>
        <p:txBody>
          <a:bodyPr wrap="square" lIns="0" tIns="17970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415"/>
              </a:spcBef>
            </a:pP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Project:</a:t>
            </a:r>
            <a:r>
              <a:rPr dirty="0" sz="13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ML</a:t>
            </a:r>
            <a:r>
              <a:rPr dirty="0" sz="13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Detection</a:t>
            </a:r>
            <a:r>
              <a:rPr dirty="0" sz="13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of</a:t>
            </a:r>
            <a:r>
              <a:rPr dirty="0" sz="13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9E7E6"/>
                </a:solidFill>
                <a:latin typeface="Calibri"/>
                <a:cs typeface="Calibri"/>
              </a:rPr>
              <a:t>Seed-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Borne</a:t>
            </a:r>
            <a:r>
              <a:rPr dirty="0" sz="1300" spc="-2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Pathogen</a:t>
            </a:r>
            <a:r>
              <a:rPr dirty="0" sz="13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Signatures</a:t>
            </a:r>
            <a:endParaRPr sz="13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Models:</a:t>
            </a:r>
            <a:r>
              <a:rPr dirty="0" sz="1300" spc="-1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ANN</a:t>
            </a:r>
            <a:r>
              <a:rPr dirty="0" sz="1300" spc="26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|</a:t>
            </a:r>
            <a:r>
              <a:rPr dirty="0" sz="1300" spc="26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1D-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CNN</a:t>
            </a:r>
            <a:r>
              <a:rPr dirty="0" sz="1300" spc="26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|</a:t>
            </a:r>
            <a:r>
              <a:rPr dirty="0" sz="1300" spc="26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Random</a:t>
            </a:r>
            <a:r>
              <a:rPr dirty="0" sz="1300" spc="-2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Forest</a:t>
            </a:r>
            <a:endParaRPr sz="13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Best:</a:t>
            </a:r>
            <a:r>
              <a:rPr dirty="0" sz="1300" spc="-20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RF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—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92%</a:t>
            </a:r>
            <a:r>
              <a:rPr dirty="0" sz="1300" spc="-25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DBE9E"/>
                </a:solidFill>
                <a:latin typeface="Calibri"/>
                <a:cs typeface="Calibri"/>
              </a:rPr>
              <a:t>Accuracy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/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AUC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0.95</a:t>
            </a:r>
            <a:r>
              <a:rPr dirty="0" sz="1300" spc="-25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/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BE9E"/>
                </a:solidFill>
                <a:latin typeface="Calibri"/>
                <a:cs typeface="Calibri"/>
              </a:rPr>
              <a:t>F1</a:t>
            </a:r>
            <a:r>
              <a:rPr dirty="0" sz="1300" spc="-20">
                <a:solidFill>
                  <a:srgbClr val="2DBE9E"/>
                </a:solidFill>
                <a:latin typeface="Calibri"/>
                <a:cs typeface="Calibri"/>
              </a:rPr>
              <a:t> 0.91</a:t>
            </a:r>
            <a:endParaRPr sz="1300">
              <a:latin typeface="Calibri"/>
              <a:cs typeface="Calibri"/>
            </a:endParaRPr>
          </a:p>
          <a:p>
            <a:pPr marL="232410" marR="725170">
              <a:lnSpc>
                <a:spcPct val="100000"/>
              </a:lnSpc>
            </a:pPr>
            <a:r>
              <a:rPr dirty="0" sz="1300" spc="-10" b="1">
                <a:solidFill>
                  <a:srgbClr val="C8A951"/>
                </a:solidFill>
                <a:latin typeface="Calibri"/>
                <a:cs typeface="Calibri"/>
              </a:rPr>
              <a:t>Student:</a:t>
            </a:r>
            <a:r>
              <a:rPr dirty="0" sz="1300" spc="-4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Kiran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Kumar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(BMB</a:t>
            </a:r>
            <a:r>
              <a:rPr dirty="0" sz="1300" spc="-4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2025),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Pranav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D.</a:t>
            </a:r>
            <a:r>
              <a:rPr dirty="0" sz="1300" spc="-4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Prasad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(BMB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2038), Vivechan</a:t>
            </a:r>
            <a:r>
              <a:rPr dirty="0" sz="1300" spc="-3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M.B</a:t>
            </a:r>
            <a:r>
              <a:rPr dirty="0" sz="1300" spc="-3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(BMB</a:t>
            </a:r>
            <a:r>
              <a:rPr dirty="0" sz="1300" spc="-3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2302)</a:t>
            </a:r>
            <a:endParaRPr sz="13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</a:pPr>
            <a:r>
              <a:rPr dirty="0" sz="1300" b="1">
                <a:solidFill>
                  <a:srgbClr val="C8A951"/>
                </a:solidFill>
                <a:latin typeface="Calibri"/>
                <a:cs typeface="Calibri"/>
              </a:rPr>
              <a:t>Guide:</a:t>
            </a:r>
            <a:r>
              <a:rPr dirty="0" sz="1300" spc="-45" b="1">
                <a:solidFill>
                  <a:srgbClr val="C8A95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[Guide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Name</a:t>
            </a:r>
            <a:r>
              <a:rPr dirty="0" sz="1300" spc="-4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Placeholder]</a:t>
            </a:r>
            <a:r>
              <a:rPr dirty="0" sz="1300" spc="204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|</a:t>
            </a:r>
            <a:r>
              <a:rPr dirty="0" sz="1300" spc="21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9E7E6"/>
                </a:solidFill>
                <a:latin typeface="Calibri"/>
                <a:cs typeface="Calibri"/>
              </a:rPr>
              <a:t>UASB</a:t>
            </a:r>
            <a:r>
              <a:rPr dirty="0" sz="1300" spc="-50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Bengaluru</a:t>
            </a:r>
            <a:r>
              <a:rPr dirty="0" sz="1300" spc="-45">
                <a:solidFill>
                  <a:srgbClr val="D9E7E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9E7E6"/>
                </a:solidFill>
                <a:latin typeface="Calibri"/>
                <a:cs typeface="Calibri"/>
              </a:rPr>
              <a:t>2024–25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 - “ML Detection of Seed-Borne Pathogen Signatures in Storage Metagenomes for Predicting Seedlot Health Deterioration”</dc:title>
  <dcterms:created xsi:type="dcterms:W3CDTF">2026-04-15T04:55:07Z</dcterms:created>
  <dcterms:modified xsi:type="dcterms:W3CDTF">2026-04-15T04:55:07Z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2026-04-15T00:00:00Z</vt:filetime>
  </property>
</Properties>
</file>